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Inter Bold" charset="1" panose="02000503000000020004"/>
      <p:regular r:id="rId19"/>
    </p:embeddedFont>
    <p:embeddedFont>
      <p:font typeface="Inter" charset="1" panose="02000503000000020004"/>
      <p:regular r:id="rId20"/>
    </p:embeddedFont>
    <p:embeddedFont>
      <p:font typeface="Roboto Italics" charset="1" panose="02000000000000000000"/>
      <p:regular r:id="rId21"/>
    </p:embeddedFont>
    <p:embeddedFont>
      <p:font typeface="Inter Ultra-Bold" charset="1" panose="02000503000000020004"/>
      <p:regular r:id="rId22"/>
    </p:embeddedFont>
    <p:embeddedFont>
      <p:font typeface="Canva Sans Bold" charset="1" panose="020B0803030501040103"/>
      <p:regular r:id="rId23"/>
    </p:embeddedFont>
    <p:embeddedFont>
      <p:font typeface="Canva Sans" charset="1" panose="020B0503030501040103"/>
      <p:regular r:id="rId24"/>
    </p:embeddedFont>
    <p:embeddedFont>
      <p:font typeface="Nourd Semi-Bold" charset="1" panose="00000700000000000000"/>
      <p:regular r:id="rId25"/>
    </p:embeddedFont>
    <p:embeddedFont>
      <p:font typeface="Nourd" charset="1" panose="00000500000000000000"/>
      <p:regular r:id="rId26"/>
    </p:embeddedFont>
    <p:embeddedFont>
      <p:font typeface="Nourd Light" charset="1" panose="00000400000000000000"/>
      <p:regular r:id="rId27"/>
    </p:embeddedFont>
    <p:embeddedFont>
      <p:font typeface="Nourd Bold" charset="1" panose="000008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3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6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621114">
            <a:off x="14272220" y="8332575"/>
            <a:ext cx="9354104" cy="2932507"/>
            <a:chOff x="0" y="0"/>
            <a:chExt cx="2463632" cy="772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3632" cy="772347"/>
            </a:xfrm>
            <a:custGeom>
              <a:avLst/>
              <a:gdLst/>
              <a:ahLst/>
              <a:cxnLst/>
              <a:rect r="r" b="b" t="t" l="l"/>
              <a:pathLst>
                <a:path h="772347" w="2463632">
                  <a:moveTo>
                    <a:pt x="0" y="0"/>
                  </a:moveTo>
                  <a:lnTo>
                    <a:pt x="2463632" y="0"/>
                  </a:lnTo>
                  <a:lnTo>
                    <a:pt x="2463632" y="772347"/>
                  </a:lnTo>
                  <a:lnTo>
                    <a:pt x="0" y="772347"/>
                  </a:lnTo>
                  <a:close/>
                </a:path>
              </a:pathLst>
            </a:custGeom>
            <a:solidFill>
              <a:srgbClr val="555555">
                <a:alpha val="62745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63632" cy="810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47078" y="2638973"/>
            <a:ext cx="15793844" cy="1979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80"/>
              </a:lnSpc>
              <a:spcBef>
                <a:spcPct val="0"/>
              </a:spcBef>
            </a:pPr>
            <a:r>
              <a:rPr lang="en-US" b="true" sz="5700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Agentic Detection of Security Antipatterns in Microservices Architectures</a:t>
            </a:r>
          </a:p>
        </p:txBody>
      </p:sp>
      <p:grpSp>
        <p:nvGrpSpPr>
          <p:cNvPr name="Group 6" id="6"/>
          <p:cNvGrpSpPr/>
          <p:nvPr/>
        </p:nvGrpSpPr>
        <p:grpSpPr>
          <a:xfrm rot="-1621114">
            <a:off x="-4568901" y="-2670831"/>
            <a:ext cx="12676189" cy="3497067"/>
            <a:chOff x="0" y="0"/>
            <a:chExt cx="3338585" cy="9210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38585" cy="921038"/>
            </a:xfrm>
            <a:custGeom>
              <a:avLst/>
              <a:gdLst/>
              <a:ahLst/>
              <a:cxnLst/>
              <a:rect r="r" b="b" t="t" l="l"/>
              <a:pathLst>
                <a:path h="921038" w="3338585">
                  <a:moveTo>
                    <a:pt x="0" y="0"/>
                  </a:moveTo>
                  <a:lnTo>
                    <a:pt x="3338585" y="0"/>
                  </a:lnTo>
                  <a:lnTo>
                    <a:pt x="3338585" y="921038"/>
                  </a:lnTo>
                  <a:lnTo>
                    <a:pt x="0" y="921038"/>
                  </a:lnTo>
                  <a:close/>
                </a:path>
              </a:pathLst>
            </a:custGeom>
            <a:solidFill>
              <a:srgbClr val="555555">
                <a:alpha val="87843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338585" cy="959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4495248">
            <a:off x="-7256176" y="522721"/>
            <a:ext cx="12740614" cy="3581584"/>
            <a:chOff x="0" y="0"/>
            <a:chExt cx="3355553" cy="9432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55553" cy="943298"/>
            </a:xfrm>
            <a:custGeom>
              <a:avLst/>
              <a:gdLst/>
              <a:ahLst/>
              <a:cxnLst/>
              <a:rect r="r" b="b" t="t" l="l"/>
              <a:pathLst>
                <a:path h="943298" w="3355553">
                  <a:moveTo>
                    <a:pt x="0" y="0"/>
                  </a:moveTo>
                  <a:lnTo>
                    <a:pt x="3355553" y="0"/>
                  </a:lnTo>
                  <a:lnTo>
                    <a:pt x="3355553" y="943298"/>
                  </a:lnTo>
                  <a:lnTo>
                    <a:pt x="0" y="943298"/>
                  </a:lnTo>
                  <a:close/>
                </a:path>
              </a:pathLst>
            </a:custGeom>
            <a:solidFill>
              <a:srgbClr val="555555">
                <a:alpha val="87843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355553" cy="981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4244267" y="5544098"/>
            <a:ext cx="9502351" cy="0"/>
          </a:xfrm>
          <a:prstGeom prst="line">
            <a:avLst/>
          </a:prstGeom>
          <a:ln cap="flat" w="38100">
            <a:solidFill>
              <a:srgbClr val="555555">
                <a:alpha val="53725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-1177486">
            <a:off x="14921197" y="-3251329"/>
            <a:ext cx="9354104" cy="2932507"/>
            <a:chOff x="0" y="0"/>
            <a:chExt cx="2463632" cy="7723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63632" cy="772347"/>
            </a:xfrm>
            <a:custGeom>
              <a:avLst/>
              <a:gdLst/>
              <a:ahLst/>
              <a:cxnLst/>
              <a:rect r="r" b="b" t="t" l="l"/>
              <a:pathLst>
                <a:path h="772347" w="2463632">
                  <a:moveTo>
                    <a:pt x="0" y="0"/>
                  </a:moveTo>
                  <a:lnTo>
                    <a:pt x="2463632" y="0"/>
                  </a:lnTo>
                  <a:lnTo>
                    <a:pt x="2463632" y="772347"/>
                  </a:lnTo>
                  <a:lnTo>
                    <a:pt x="0" y="772347"/>
                  </a:lnTo>
                  <a:close/>
                </a:path>
              </a:pathLst>
            </a:custGeom>
            <a:solidFill>
              <a:srgbClr val="5D5D5D">
                <a:alpha val="94902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463632" cy="810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2699999">
            <a:off x="12332972" y="-2452965"/>
            <a:ext cx="9354104" cy="2932507"/>
            <a:chOff x="0" y="0"/>
            <a:chExt cx="2463632" cy="77234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63632" cy="772347"/>
            </a:xfrm>
            <a:custGeom>
              <a:avLst/>
              <a:gdLst/>
              <a:ahLst/>
              <a:cxnLst/>
              <a:rect r="r" b="b" t="t" l="l"/>
              <a:pathLst>
                <a:path h="772347" w="2463632">
                  <a:moveTo>
                    <a:pt x="0" y="0"/>
                  </a:moveTo>
                  <a:lnTo>
                    <a:pt x="2463632" y="0"/>
                  </a:lnTo>
                  <a:lnTo>
                    <a:pt x="2463632" y="772347"/>
                  </a:lnTo>
                  <a:lnTo>
                    <a:pt x="0" y="772347"/>
                  </a:lnTo>
                  <a:close/>
                </a:path>
              </a:pathLst>
            </a:custGeom>
            <a:solidFill>
              <a:srgbClr val="5D5D5D">
                <a:alpha val="62745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463632" cy="810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7008680" y="3719108"/>
            <a:ext cx="4389589" cy="2402303"/>
          </a:xfrm>
          <a:custGeom>
            <a:avLst/>
            <a:gdLst/>
            <a:ahLst/>
            <a:cxnLst/>
            <a:rect r="r" b="b" t="t" l="l"/>
            <a:pathLst>
              <a:path h="2402303" w="4389589">
                <a:moveTo>
                  <a:pt x="0" y="0"/>
                </a:moveTo>
                <a:lnTo>
                  <a:pt x="4389589" y="0"/>
                </a:lnTo>
                <a:lnTo>
                  <a:pt x="4389589" y="2402302"/>
                </a:lnTo>
                <a:lnTo>
                  <a:pt x="0" y="2402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19098" y="9258300"/>
            <a:ext cx="4389589" cy="2402303"/>
          </a:xfrm>
          <a:custGeom>
            <a:avLst/>
            <a:gdLst/>
            <a:ahLst/>
            <a:cxnLst/>
            <a:rect r="r" b="b" t="t" l="l"/>
            <a:pathLst>
              <a:path h="2402303" w="4389589">
                <a:moveTo>
                  <a:pt x="0" y="0"/>
                </a:moveTo>
                <a:lnTo>
                  <a:pt x="4389589" y="0"/>
                </a:lnTo>
                <a:lnTo>
                  <a:pt x="4389589" y="2402303"/>
                </a:lnTo>
                <a:lnTo>
                  <a:pt x="0" y="2402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111537" y="7779503"/>
            <a:ext cx="1798655" cy="794406"/>
          </a:xfrm>
          <a:custGeom>
            <a:avLst/>
            <a:gdLst/>
            <a:ahLst/>
            <a:cxnLst/>
            <a:rect r="r" b="b" t="t" l="l"/>
            <a:pathLst>
              <a:path h="794406" w="1798655">
                <a:moveTo>
                  <a:pt x="0" y="0"/>
                </a:moveTo>
                <a:lnTo>
                  <a:pt x="1798655" y="0"/>
                </a:lnTo>
                <a:lnTo>
                  <a:pt x="1798655" y="794406"/>
                </a:lnTo>
                <a:lnTo>
                  <a:pt x="0" y="794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64108" y="7984933"/>
            <a:ext cx="1849784" cy="634467"/>
          </a:xfrm>
          <a:custGeom>
            <a:avLst/>
            <a:gdLst/>
            <a:ahLst/>
            <a:cxnLst/>
            <a:rect r="r" b="b" t="t" l="l"/>
            <a:pathLst>
              <a:path h="634467" w="1849784">
                <a:moveTo>
                  <a:pt x="0" y="0"/>
                </a:moveTo>
                <a:lnTo>
                  <a:pt x="1849784" y="0"/>
                </a:lnTo>
                <a:lnTo>
                  <a:pt x="1849784" y="634467"/>
                </a:lnTo>
                <a:lnTo>
                  <a:pt x="0" y="634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005347" y="5815465"/>
            <a:ext cx="1227730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Analysing Security Vulnerabilities in Human Written and AI generated Microservices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653382" y="7387090"/>
            <a:ext cx="10869011" cy="597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8"/>
              </a:lnSpc>
              <a:spcBef>
                <a:spcPct val="0"/>
              </a:spcBef>
            </a:pPr>
            <a:r>
              <a:rPr lang="en-US" sz="3462" i="true">
                <a:solidFill>
                  <a:srgbClr val="555555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M. Shazil Khan, Ahsen Tahir, Francis Palma​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653382" y="8033831"/>
            <a:ext cx="10869011" cy="557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8"/>
              </a:lnSpc>
              <a:spcBef>
                <a:spcPct val="0"/>
              </a:spcBef>
            </a:pPr>
            <a:r>
              <a:rPr lang="en-US" sz="3162" i="true">
                <a:solidFill>
                  <a:srgbClr val="555555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SE+AI Research Lab, Faculty of Computer Science, UNBF​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57593" y="0"/>
            <a:ext cx="7830407" cy="10287000"/>
            <a:chOff x="0" y="0"/>
            <a:chExt cx="9258674" cy="12163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58674" cy="12163350"/>
            </a:xfrm>
            <a:custGeom>
              <a:avLst/>
              <a:gdLst/>
              <a:ahLst/>
              <a:cxnLst/>
              <a:rect r="r" b="b" t="t" l="l"/>
              <a:pathLst>
                <a:path h="12163350" w="9258674">
                  <a:moveTo>
                    <a:pt x="0" y="0"/>
                  </a:moveTo>
                  <a:lnTo>
                    <a:pt x="9258674" y="0"/>
                  </a:lnTo>
                  <a:lnTo>
                    <a:pt x="9258674" y="12163350"/>
                  </a:lnTo>
                  <a:lnTo>
                    <a:pt x="0" y="12163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467" t="-4535" r="0" b="-4535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66928" y="653921"/>
            <a:ext cx="1869641" cy="825758"/>
          </a:xfrm>
          <a:custGeom>
            <a:avLst/>
            <a:gdLst/>
            <a:ahLst/>
            <a:cxnLst/>
            <a:rect r="r" b="b" t="t" l="l"/>
            <a:pathLst>
              <a:path h="825758" w="1869641">
                <a:moveTo>
                  <a:pt x="0" y="0"/>
                </a:moveTo>
                <a:lnTo>
                  <a:pt x="1869641" y="0"/>
                </a:lnTo>
                <a:lnTo>
                  <a:pt x="1869641" y="825758"/>
                </a:lnTo>
                <a:lnTo>
                  <a:pt x="0" y="82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40936" y="577721"/>
            <a:ext cx="2484034" cy="901958"/>
          </a:xfrm>
          <a:custGeom>
            <a:avLst/>
            <a:gdLst/>
            <a:ahLst/>
            <a:cxnLst/>
            <a:rect r="r" b="b" t="t" l="l"/>
            <a:pathLst>
              <a:path h="901958" w="2484034">
                <a:moveTo>
                  <a:pt x="0" y="0"/>
                </a:moveTo>
                <a:lnTo>
                  <a:pt x="2484034" y="0"/>
                </a:lnTo>
                <a:lnTo>
                  <a:pt x="2484034" y="901958"/>
                </a:lnTo>
                <a:lnTo>
                  <a:pt x="0" y="901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52570" y="3473002"/>
            <a:ext cx="7772400" cy="235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sz="5599" b="true">
                <a:solidFill>
                  <a:srgbClr val="1A1A1A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Hello, I'm</a:t>
            </a:r>
          </a:p>
          <a:p>
            <a:pPr algn="l">
              <a:lnSpc>
                <a:spcPts val="6159"/>
              </a:lnSpc>
            </a:pPr>
            <a:r>
              <a:rPr lang="en-US" sz="5599" b="true">
                <a:solidFill>
                  <a:srgbClr val="1A1A1A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Muhammad Shazil Khan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3045" y="5773493"/>
            <a:ext cx="8178840" cy="101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 b="true">
                <a:solidFill>
                  <a:srgbClr val="7A8B7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Visiting AI Researcher From Pakistan at University of New Brunswick, Fredericton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43045" y="7232723"/>
            <a:ext cx="7624277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2324">
                <a:solidFill>
                  <a:srgbClr val="555555"/>
                </a:solidFill>
                <a:latin typeface="Canva Sans"/>
                <a:ea typeface="Canva Sans"/>
                <a:cs typeface="Canva Sans"/>
                <a:sym typeface="Canva Sans"/>
              </a:rPr>
              <a:t>Working under the supervision of </a:t>
            </a:r>
            <a:r>
              <a:rPr lang="en-US" sz="2324" b="true">
                <a:solidFill>
                  <a:srgbClr val="55555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Prof. Francis Palma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99542" y="9172013"/>
            <a:ext cx="5158592" cy="380771"/>
            <a:chOff x="0" y="0"/>
            <a:chExt cx="6878122" cy="5076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7695" cy="507695"/>
            </a:xfrm>
            <a:custGeom>
              <a:avLst/>
              <a:gdLst/>
              <a:ahLst/>
              <a:cxnLst/>
              <a:rect r="r" b="b" t="t" l="l"/>
              <a:pathLst>
                <a:path h="507695" w="507695">
                  <a:moveTo>
                    <a:pt x="0" y="0"/>
                  </a:moveTo>
                  <a:lnTo>
                    <a:pt x="507695" y="0"/>
                  </a:lnTo>
                  <a:lnTo>
                    <a:pt x="507695" y="507695"/>
                  </a:lnTo>
                  <a:lnTo>
                    <a:pt x="0" y="507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664087" y="-73813"/>
              <a:ext cx="6214035" cy="5600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19"/>
                </a:lnSpc>
              </a:pPr>
              <a:r>
                <a:rPr lang="en-US" sz="2324">
                  <a:solidFill>
                    <a:srgbClr val="555555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https://mshazilkhan.vercel.app/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53877" y="656908"/>
            <a:ext cx="10128823" cy="857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9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Context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014593" y="1866106"/>
            <a:ext cx="8696682" cy="1528762"/>
            <a:chOff x="0" y="0"/>
            <a:chExt cx="2097801" cy="3687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97801" cy="368766"/>
            </a:xfrm>
            <a:custGeom>
              <a:avLst/>
              <a:gdLst/>
              <a:ahLst/>
              <a:cxnLst/>
              <a:rect r="r" b="b" t="t" l="l"/>
              <a:pathLst>
                <a:path h="368766" w="2097801">
                  <a:moveTo>
                    <a:pt x="22255" y="0"/>
                  </a:moveTo>
                  <a:lnTo>
                    <a:pt x="2075546" y="0"/>
                  </a:lnTo>
                  <a:cubicBezTo>
                    <a:pt x="2081449" y="0"/>
                    <a:pt x="2087109" y="2345"/>
                    <a:pt x="2091283" y="6518"/>
                  </a:cubicBezTo>
                  <a:cubicBezTo>
                    <a:pt x="2095457" y="10692"/>
                    <a:pt x="2097801" y="16353"/>
                    <a:pt x="2097801" y="22255"/>
                  </a:cubicBezTo>
                  <a:lnTo>
                    <a:pt x="2097801" y="346511"/>
                  </a:lnTo>
                  <a:cubicBezTo>
                    <a:pt x="2097801" y="358802"/>
                    <a:pt x="2087837" y="368766"/>
                    <a:pt x="2075546" y="368766"/>
                  </a:cubicBezTo>
                  <a:lnTo>
                    <a:pt x="22255" y="368766"/>
                  </a:lnTo>
                  <a:cubicBezTo>
                    <a:pt x="16353" y="368766"/>
                    <a:pt x="10692" y="366421"/>
                    <a:pt x="6518" y="362247"/>
                  </a:cubicBezTo>
                  <a:cubicBezTo>
                    <a:pt x="2345" y="358074"/>
                    <a:pt x="0" y="352413"/>
                    <a:pt x="0" y="346511"/>
                  </a:cubicBezTo>
                  <a:lnTo>
                    <a:pt x="0" y="22255"/>
                  </a:lnTo>
                  <a:cubicBezTo>
                    <a:pt x="0" y="16353"/>
                    <a:pt x="2345" y="10692"/>
                    <a:pt x="6518" y="6518"/>
                  </a:cubicBezTo>
                  <a:cubicBezTo>
                    <a:pt x="10692" y="2345"/>
                    <a:pt x="16353" y="0"/>
                    <a:pt x="2225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097801" cy="340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255942" y="2078137"/>
            <a:ext cx="8213984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Different microservices in Software Engineering world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014593" y="3918942"/>
            <a:ext cx="8696682" cy="1528762"/>
            <a:chOff x="0" y="0"/>
            <a:chExt cx="2097801" cy="3687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97801" cy="368766"/>
            </a:xfrm>
            <a:custGeom>
              <a:avLst/>
              <a:gdLst/>
              <a:ahLst/>
              <a:cxnLst/>
              <a:rect r="r" b="b" t="t" l="l"/>
              <a:pathLst>
                <a:path h="368766" w="2097801">
                  <a:moveTo>
                    <a:pt x="22255" y="0"/>
                  </a:moveTo>
                  <a:lnTo>
                    <a:pt x="2075546" y="0"/>
                  </a:lnTo>
                  <a:cubicBezTo>
                    <a:pt x="2081449" y="0"/>
                    <a:pt x="2087109" y="2345"/>
                    <a:pt x="2091283" y="6518"/>
                  </a:cubicBezTo>
                  <a:cubicBezTo>
                    <a:pt x="2095457" y="10692"/>
                    <a:pt x="2097801" y="16353"/>
                    <a:pt x="2097801" y="22255"/>
                  </a:cubicBezTo>
                  <a:lnTo>
                    <a:pt x="2097801" y="346511"/>
                  </a:lnTo>
                  <a:cubicBezTo>
                    <a:pt x="2097801" y="358802"/>
                    <a:pt x="2087837" y="368766"/>
                    <a:pt x="2075546" y="368766"/>
                  </a:cubicBezTo>
                  <a:lnTo>
                    <a:pt x="22255" y="368766"/>
                  </a:lnTo>
                  <a:cubicBezTo>
                    <a:pt x="16353" y="368766"/>
                    <a:pt x="10692" y="366421"/>
                    <a:pt x="6518" y="362247"/>
                  </a:cubicBezTo>
                  <a:cubicBezTo>
                    <a:pt x="2345" y="358074"/>
                    <a:pt x="0" y="352413"/>
                    <a:pt x="0" y="346511"/>
                  </a:cubicBezTo>
                  <a:lnTo>
                    <a:pt x="0" y="22255"/>
                  </a:lnTo>
                  <a:cubicBezTo>
                    <a:pt x="0" y="16353"/>
                    <a:pt x="2345" y="10692"/>
                    <a:pt x="6518" y="6518"/>
                  </a:cubicBezTo>
                  <a:cubicBezTo>
                    <a:pt x="10692" y="2345"/>
                    <a:pt x="16353" y="0"/>
                    <a:pt x="2225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2097801" cy="340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255942" y="4130973"/>
            <a:ext cx="8213984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Multiple security vulnerabilities exists in microservices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014593" y="5971778"/>
            <a:ext cx="8696682" cy="1528762"/>
            <a:chOff x="0" y="0"/>
            <a:chExt cx="2097801" cy="3687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97801" cy="368766"/>
            </a:xfrm>
            <a:custGeom>
              <a:avLst/>
              <a:gdLst/>
              <a:ahLst/>
              <a:cxnLst/>
              <a:rect r="r" b="b" t="t" l="l"/>
              <a:pathLst>
                <a:path h="368766" w="2097801">
                  <a:moveTo>
                    <a:pt x="22255" y="0"/>
                  </a:moveTo>
                  <a:lnTo>
                    <a:pt x="2075546" y="0"/>
                  </a:lnTo>
                  <a:cubicBezTo>
                    <a:pt x="2081449" y="0"/>
                    <a:pt x="2087109" y="2345"/>
                    <a:pt x="2091283" y="6518"/>
                  </a:cubicBezTo>
                  <a:cubicBezTo>
                    <a:pt x="2095457" y="10692"/>
                    <a:pt x="2097801" y="16353"/>
                    <a:pt x="2097801" y="22255"/>
                  </a:cubicBezTo>
                  <a:lnTo>
                    <a:pt x="2097801" y="346511"/>
                  </a:lnTo>
                  <a:cubicBezTo>
                    <a:pt x="2097801" y="358802"/>
                    <a:pt x="2087837" y="368766"/>
                    <a:pt x="2075546" y="368766"/>
                  </a:cubicBezTo>
                  <a:lnTo>
                    <a:pt x="22255" y="368766"/>
                  </a:lnTo>
                  <a:cubicBezTo>
                    <a:pt x="16353" y="368766"/>
                    <a:pt x="10692" y="366421"/>
                    <a:pt x="6518" y="362247"/>
                  </a:cubicBezTo>
                  <a:cubicBezTo>
                    <a:pt x="2345" y="358074"/>
                    <a:pt x="0" y="352413"/>
                    <a:pt x="0" y="346511"/>
                  </a:cubicBezTo>
                  <a:lnTo>
                    <a:pt x="0" y="22255"/>
                  </a:lnTo>
                  <a:cubicBezTo>
                    <a:pt x="0" y="16353"/>
                    <a:pt x="2345" y="10692"/>
                    <a:pt x="6518" y="6518"/>
                  </a:cubicBezTo>
                  <a:cubicBezTo>
                    <a:pt x="10692" y="2345"/>
                    <a:pt x="16353" y="0"/>
                    <a:pt x="2225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2097801" cy="340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255942" y="6402784"/>
            <a:ext cx="821398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Code level and Design level Vulnerabilities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014593" y="8024614"/>
            <a:ext cx="8696682" cy="1528762"/>
            <a:chOff x="0" y="0"/>
            <a:chExt cx="2097801" cy="3687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97801" cy="368766"/>
            </a:xfrm>
            <a:custGeom>
              <a:avLst/>
              <a:gdLst/>
              <a:ahLst/>
              <a:cxnLst/>
              <a:rect r="r" b="b" t="t" l="l"/>
              <a:pathLst>
                <a:path h="368766" w="2097801">
                  <a:moveTo>
                    <a:pt x="22255" y="0"/>
                  </a:moveTo>
                  <a:lnTo>
                    <a:pt x="2075546" y="0"/>
                  </a:lnTo>
                  <a:cubicBezTo>
                    <a:pt x="2081449" y="0"/>
                    <a:pt x="2087109" y="2345"/>
                    <a:pt x="2091283" y="6518"/>
                  </a:cubicBezTo>
                  <a:cubicBezTo>
                    <a:pt x="2095457" y="10692"/>
                    <a:pt x="2097801" y="16353"/>
                    <a:pt x="2097801" y="22255"/>
                  </a:cubicBezTo>
                  <a:lnTo>
                    <a:pt x="2097801" y="346511"/>
                  </a:lnTo>
                  <a:cubicBezTo>
                    <a:pt x="2097801" y="358802"/>
                    <a:pt x="2087837" y="368766"/>
                    <a:pt x="2075546" y="368766"/>
                  </a:cubicBezTo>
                  <a:lnTo>
                    <a:pt x="22255" y="368766"/>
                  </a:lnTo>
                  <a:cubicBezTo>
                    <a:pt x="16353" y="368766"/>
                    <a:pt x="10692" y="366421"/>
                    <a:pt x="6518" y="362247"/>
                  </a:cubicBezTo>
                  <a:cubicBezTo>
                    <a:pt x="2345" y="358074"/>
                    <a:pt x="0" y="352413"/>
                    <a:pt x="0" y="346511"/>
                  </a:cubicBezTo>
                  <a:lnTo>
                    <a:pt x="0" y="22255"/>
                  </a:lnTo>
                  <a:cubicBezTo>
                    <a:pt x="0" y="16353"/>
                    <a:pt x="2345" y="10692"/>
                    <a:pt x="6518" y="6518"/>
                  </a:cubicBezTo>
                  <a:cubicBezTo>
                    <a:pt x="10692" y="2345"/>
                    <a:pt x="16353" y="0"/>
                    <a:pt x="2225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2097801" cy="340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255942" y="8294161"/>
            <a:ext cx="8213984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Detection of these security vulnerabilites is important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5666900" y="8944708"/>
            <a:ext cx="1798655" cy="794406"/>
          </a:xfrm>
          <a:custGeom>
            <a:avLst/>
            <a:gdLst/>
            <a:ahLst/>
            <a:cxnLst/>
            <a:rect r="r" b="b" t="t" l="l"/>
            <a:pathLst>
              <a:path h="794406" w="1798655">
                <a:moveTo>
                  <a:pt x="0" y="0"/>
                </a:moveTo>
                <a:lnTo>
                  <a:pt x="1798655" y="0"/>
                </a:lnTo>
                <a:lnTo>
                  <a:pt x="1798655" y="794406"/>
                </a:lnTo>
                <a:lnTo>
                  <a:pt x="0" y="794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28984" y="9065625"/>
            <a:ext cx="1849784" cy="634467"/>
          </a:xfrm>
          <a:custGeom>
            <a:avLst/>
            <a:gdLst/>
            <a:ahLst/>
            <a:cxnLst/>
            <a:rect r="r" b="b" t="t" l="l"/>
            <a:pathLst>
              <a:path h="634467" w="1849784">
                <a:moveTo>
                  <a:pt x="0" y="0"/>
                </a:moveTo>
                <a:lnTo>
                  <a:pt x="1849785" y="0"/>
                </a:lnTo>
                <a:lnTo>
                  <a:pt x="1849785" y="634467"/>
                </a:lnTo>
                <a:lnTo>
                  <a:pt x="0" y="634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53877" y="656908"/>
            <a:ext cx="10128823" cy="857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9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The Problem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986018" y="1894681"/>
            <a:ext cx="8696682" cy="1528961"/>
            <a:chOff x="0" y="0"/>
            <a:chExt cx="11595577" cy="203861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1595577" cy="2038615"/>
              <a:chOff x="0" y="0"/>
              <a:chExt cx="2097801" cy="368814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097801" cy="368814"/>
              </a:xfrm>
              <a:custGeom>
                <a:avLst/>
                <a:gdLst/>
                <a:ahLst/>
                <a:cxnLst/>
                <a:rect r="r" b="b" t="t" l="l"/>
                <a:pathLst>
                  <a:path h="368814" w="2097801">
                    <a:moveTo>
                      <a:pt x="22255" y="0"/>
                    </a:moveTo>
                    <a:lnTo>
                      <a:pt x="2075546" y="0"/>
                    </a:lnTo>
                    <a:cubicBezTo>
                      <a:pt x="2081449" y="0"/>
                      <a:pt x="2087109" y="2345"/>
                      <a:pt x="2091283" y="6518"/>
                    </a:cubicBezTo>
                    <a:cubicBezTo>
                      <a:pt x="2095457" y="10692"/>
                      <a:pt x="2097801" y="16353"/>
                      <a:pt x="2097801" y="22255"/>
                    </a:cubicBezTo>
                    <a:lnTo>
                      <a:pt x="2097801" y="346558"/>
                    </a:lnTo>
                    <a:cubicBezTo>
                      <a:pt x="2097801" y="352461"/>
                      <a:pt x="2095457" y="358122"/>
                      <a:pt x="2091283" y="362295"/>
                    </a:cubicBezTo>
                    <a:cubicBezTo>
                      <a:pt x="2087109" y="366469"/>
                      <a:pt x="2081449" y="368814"/>
                      <a:pt x="2075546" y="368814"/>
                    </a:cubicBezTo>
                    <a:lnTo>
                      <a:pt x="22255" y="368814"/>
                    </a:lnTo>
                    <a:cubicBezTo>
                      <a:pt x="16353" y="368814"/>
                      <a:pt x="10692" y="366469"/>
                      <a:pt x="6518" y="362295"/>
                    </a:cubicBezTo>
                    <a:cubicBezTo>
                      <a:pt x="2345" y="358122"/>
                      <a:pt x="0" y="352461"/>
                      <a:pt x="0" y="346558"/>
                    </a:cubicBezTo>
                    <a:lnTo>
                      <a:pt x="0" y="22255"/>
                    </a:lnTo>
                    <a:cubicBezTo>
                      <a:pt x="0" y="16353"/>
                      <a:pt x="2345" y="10692"/>
                      <a:pt x="6518" y="6518"/>
                    </a:cubicBezTo>
                    <a:cubicBezTo>
                      <a:pt x="10692" y="2345"/>
                      <a:pt x="16353" y="0"/>
                      <a:pt x="222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28575"/>
                <a:ext cx="2097801" cy="3402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321799" y="301757"/>
              <a:ext cx="10951979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 spc="-60">
                  <a:solidFill>
                    <a:srgbClr val="5D5D5D"/>
                  </a:solidFill>
                  <a:latin typeface="Nourd"/>
                  <a:ea typeface="Nourd"/>
                  <a:cs typeface="Nourd"/>
                  <a:sym typeface="Nourd"/>
                </a:rPr>
                <a:t>Microservice security flaws often come from architectural decisions, not coding bugs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986018" y="3947517"/>
            <a:ext cx="8696682" cy="1528961"/>
            <a:chOff x="0" y="0"/>
            <a:chExt cx="11595577" cy="203861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1595577" cy="2038615"/>
              <a:chOff x="0" y="0"/>
              <a:chExt cx="2097801" cy="3688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97801" cy="368814"/>
              </a:xfrm>
              <a:custGeom>
                <a:avLst/>
                <a:gdLst/>
                <a:ahLst/>
                <a:cxnLst/>
                <a:rect r="r" b="b" t="t" l="l"/>
                <a:pathLst>
                  <a:path h="368814" w="2097801">
                    <a:moveTo>
                      <a:pt x="22255" y="0"/>
                    </a:moveTo>
                    <a:lnTo>
                      <a:pt x="2075546" y="0"/>
                    </a:lnTo>
                    <a:cubicBezTo>
                      <a:pt x="2081449" y="0"/>
                      <a:pt x="2087109" y="2345"/>
                      <a:pt x="2091283" y="6518"/>
                    </a:cubicBezTo>
                    <a:cubicBezTo>
                      <a:pt x="2095457" y="10692"/>
                      <a:pt x="2097801" y="16353"/>
                      <a:pt x="2097801" y="22255"/>
                    </a:cubicBezTo>
                    <a:lnTo>
                      <a:pt x="2097801" y="346558"/>
                    </a:lnTo>
                    <a:cubicBezTo>
                      <a:pt x="2097801" y="352461"/>
                      <a:pt x="2095457" y="358122"/>
                      <a:pt x="2091283" y="362295"/>
                    </a:cubicBezTo>
                    <a:cubicBezTo>
                      <a:pt x="2087109" y="366469"/>
                      <a:pt x="2081449" y="368814"/>
                      <a:pt x="2075546" y="368814"/>
                    </a:cubicBezTo>
                    <a:lnTo>
                      <a:pt x="22255" y="368814"/>
                    </a:lnTo>
                    <a:cubicBezTo>
                      <a:pt x="16353" y="368814"/>
                      <a:pt x="10692" y="366469"/>
                      <a:pt x="6518" y="362295"/>
                    </a:cubicBezTo>
                    <a:cubicBezTo>
                      <a:pt x="2345" y="358122"/>
                      <a:pt x="0" y="352461"/>
                      <a:pt x="0" y="346558"/>
                    </a:cubicBezTo>
                    <a:lnTo>
                      <a:pt x="0" y="22255"/>
                    </a:lnTo>
                    <a:cubicBezTo>
                      <a:pt x="0" y="16353"/>
                      <a:pt x="2345" y="10692"/>
                      <a:pt x="6518" y="6518"/>
                    </a:cubicBezTo>
                    <a:cubicBezTo>
                      <a:pt x="10692" y="2345"/>
                      <a:pt x="16353" y="0"/>
                      <a:pt x="222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28575"/>
                <a:ext cx="2097801" cy="3402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21799" y="301757"/>
              <a:ext cx="10951979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 spc="-60">
                  <a:solidFill>
                    <a:srgbClr val="5D5D5D"/>
                  </a:solidFill>
                  <a:latin typeface="Nourd"/>
                  <a:ea typeface="Nourd"/>
                  <a:cs typeface="Nourd"/>
                  <a:sym typeface="Nourd"/>
                </a:rPr>
                <a:t>Examples: bypassing the API gateway, services with excessive privileges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986018" y="6000353"/>
            <a:ext cx="8696682" cy="1528961"/>
            <a:chOff x="0" y="0"/>
            <a:chExt cx="11595577" cy="203861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1595577" cy="2038615"/>
              <a:chOff x="0" y="0"/>
              <a:chExt cx="2097801" cy="36881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097801" cy="368814"/>
              </a:xfrm>
              <a:custGeom>
                <a:avLst/>
                <a:gdLst/>
                <a:ahLst/>
                <a:cxnLst/>
                <a:rect r="r" b="b" t="t" l="l"/>
                <a:pathLst>
                  <a:path h="368814" w="2097801">
                    <a:moveTo>
                      <a:pt x="22255" y="0"/>
                    </a:moveTo>
                    <a:lnTo>
                      <a:pt x="2075546" y="0"/>
                    </a:lnTo>
                    <a:cubicBezTo>
                      <a:pt x="2081449" y="0"/>
                      <a:pt x="2087109" y="2345"/>
                      <a:pt x="2091283" y="6518"/>
                    </a:cubicBezTo>
                    <a:cubicBezTo>
                      <a:pt x="2095457" y="10692"/>
                      <a:pt x="2097801" y="16353"/>
                      <a:pt x="2097801" y="22255"/>
                    </a:cubicBezTo>
                    <a:lnTo>
                      <a:pt x="2097801" y="346558"/>
                    </a:lnTo>
                    <a:cubicBezTo>
                      <a:pt x="2097801" y="352461"/>
                      <a:pt x="2095457" y="358122"/>
                      <a:pt x="2091283" y="362295"/>
                    </a:cubicBezTo>
                    <a:cubicBezTo>
                      <a:pt x="2087109" y="366469"/>
                      <a:pt x="2081449" y="368814"/>
                      <a:pt x="2075546" y="368814"/>
                    </a:cubicBezTo>
                    <a:lnTo>
                      <a:pt x="22255" y="368814"/>
                    </a:lnTo>
                    <a:cubicBezTo>
                      <a:pt x="16353" y="368814"/>
                      <a:pt x="10692" y="366469"/>
                      <a:pt x="6518" y="362295"/>
                    </a:cubicBezTo>
                    <a:cubicBezTo>
                      <a:pt x="2345" y="358122"/>
                      <a:pt x="0" y="352461"/>
                      <a:pt x="0" y="346558"/>
                    </a:cubicBezTo>
                    <a:lnTo>
                      <a:pt x="0" y="22255"/>
                    </a:lnTo>
                    <a:cubicBezTo>
                      <a:pt x="0" y="16353"/>
                      <a:pt x="2345" y="10692"/>
                      <a:pt x="6518" y="6518"/>
                    </a:cubicBezTo>
                    <a:cubicBezTo>
                      <a:pt x="10692" y="2345"/>
                      <a:pt x="16353" y="0"/>
                      <a:pt x="222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28575"/>
                <a:ext cx="2097801" cy="3402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21799" y="301757"/>
              <a:ext cx="10951979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 spc="-60">
                  <a:solidFill>
                    <a:srgbClr val="5D5D5D"/>
                  </a:solidFill>
                  <a:latin typeface="Nourd"/>
                  <a:ea typeface="Nourd"/>
                  <a:cs typeface="Nourd"/>
                  <a:sym typeface="Nourd"/>
                </a:rPr>
                <a:t>Static analysis tools and LLM code-security studies focus on code-level weaknesses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986018" y="8053189"/>
            <a:ext cx="8696682" cy="1528961"/>
            <a:chOff x="0" y="0"/>
            <a:chExt cx="11595577" cy="2038615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1595577" cy="2038615"/>
              <a:chOff x="0" y="0"/>
              <a:chExt cx="2097801" cy="36881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097801" cy="368814"/>
              </a:xfrm>
              <a:custGeom>
                <a:avLst/>
                <a:gdLst/>
                <a:ahLst/>
                <a:cxnLst/>
                <a:rect r="r" b="b" t="t" l="l"/>
                <a:pathLst>
                  <a:path h="368814" w="2097801">
                    <a:moveTo>
                      <a:pt x="22255" y="0"/>
                    </a:moveTo>
                    <a:lnTo>
                      <a:pt x="2075546" y="0"/>
                    </a:lnTo>
                    <a:cubicBezTo>
                      <a:pt x="2081449" y="0"/>
                      <a:pt x="2087109" y="2345"/>
                      <a:pt x="2091283" y="6518"/>
                    </a:cubicBezTo>
                    <a:cubicBezTo>
                      <a:pt x="2095457" y="10692"/>
                      <a:pt x="2097801" y="16353"/>
                      <a:pt x="2097801" y="22255"/>
                    </a:cubicBezTo>
                    <a:lnTo>
                      <a:pt x="2097801" y="346558"/>
                    </a:lnTo>
                    <a:cubicBezTo>
                      <a:pt x="2097801" y="352461"/>
                      <a:pt x="2095457" y="358122"/>
                      <a:pt x="2091283" y="362295"/>
                    </a:cubicBezTo>
                    <a:cubicBezTo>
                      <a:pt x="2087109" y="366469"/>
                      <a:pt x="2081449" y="368814"/>
                      <a:pt x="2075546" y="368814"/>
                    </a:cubicBezTo>
                    <a:lnTo>
                      <a:pt x="22255" y="368814"/>
                    </a:lnTo>
                    <a:cubicBezTo>
                      <a:pt x="16353" y="368814"/>
                      <a:pt x="10692" y="366469"/>
                      <a:pt x="6518" y="362295"/>
                    </a:cubicBezTo>
                    <a:cubicBezTo>
                      <a:pt x="2345" y="358122"/>
                      <a:pt x="0" y="352461"/>
                      <a:pt x="0" y="346558"/>
                    </a:cubicBezTo>
                    <a:lnTo>
                      <a:pt x="0" y="22255"/>
                    </a:lnTo>
                    <a:cubicBezTo>
                      <a:pt x="0" y="16353"/>
                      <a:pt x="2345" y="10692"/>
                      <a:pt x="6518" y="6518"/>
                    </a:cubicBezTo>
                    <a:cubicBezTo>
                      <a:pt x="10692" y="2345"/>
                      <a:pt x="16353" y="0"/>
                      <a:pt x="222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28575"/>
                <a:ext cx="2097801" cy="3402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21799" y="301757"/>
              <a:ext cx="10951979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 spc="-60">
                  <a:solidFill>
                    <a:srgbClr val="5D5D5D"/>
                  </a:solidFill>
                  <a:latin typeface="Nourd"/>
                  <a:ea typeface="Nourd"/>
                  <a:cs typeface="Nourd"/>
                  <a:sym typeface="Nourd"/>
                </a:rPr>
                <a:t>Design-level security antipatterns are largely unexamined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5666900" y="8944708"/>
            <a:ext cx="1798655" cy="794406"/>
          </a:xfrm>
          <a:custGeom>
            <a:avLst/>
            <a:gdLst/>
            <a:ahLst/>
            <a:cxnLst/>
            <a:rect r="r" b="b" t="t" l="l"/>
            <a:pathLst>
              <a:path h="794406" w="1798655">
                <a:moveTo>
                  <a:pt x="0" y="0"/>
                </a:moveTo>
                <a:lnTo>
                  <a:pt x="1798655" y="0"/>
                </a:lnTo>
                <a:lnTo>
                  <a:pt x="1798655" y="794406"/>
                </a:lnTo>
                <a:lnTo>
                  <a:pt x="0" y="794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28984" y="9065625"/>
            <a:ext cx="1849784" cy="634467"/>
          </a:xfrm>
          <a:custGeom>
            <a:avLst/>
            <a:gdLst/>
            <a:ahLst/>
            <a:cxnLst/>
            <a:rect r="r" b="b" t="t" l="l"/>
            <a:pathLst>
              <a:path h="634467" w="1849784">
                <a:moveTo>
                  <a:pt x="0" y="0"/>
                </a:moveTo>
                <a:lnTo>
                  <a:pt x="1849785" y="0"/>
                </a:lnTo>
                <a:lnTo>
                  <a:pt x="1849785" y="634467"/>
                </a:lnTo>
                <a:lnTo>
                  <a:pt x="0" y="634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49617" y="2316648"/>
            <a:ext cx="507224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Ce</a:t>
            </a: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ntralized Authorization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85697" y="2345223"/>
            <a:ext cx="69504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Nourd Light"/>
                <a:ea typeface="Nourd Light"/>
                <a:cs typeface="Nourd Light"/>
                <a:sym typeface="Nourd Light"/>
              </a:rPr>
              <a:t>1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185697" y="3135323"/>
            <a:ext cx="6236167" cy="457200"/>
            <a:chOff x="0" y="0"/>
            <a:chExt cx="8314889" cy="6096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551893" y="28575"/>
              <a:ext cx="6762996" cy="58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I</a:t>
              </a: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nsufficient Access Control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7150"/>
              <a:ext cx="926730" cy="552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3000">
                  <a:solidFill>
                    <a:srgbClr val="000000"/>
                  </a:solidFill>
                  <a:latin typeface="Nourd Light"/>
                  <a:ea typeface="Nourd Light"/>
                  <a:cs typeface="Nourd Light"/>
                  <a:sym typeface="Nourd Light"/>
                </a:rPr>
                <a:t>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185697" y="3983048"/>
            <a:ext cx="7418680" cy="457200"/>
            <a:chOff x="0" y="0"/>
            <a:chExt cx="9891573" cy="6096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1551893" y="28575"/>
              <a:ext cx="8339680" cy="58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Multiple I</a:t>
              </a: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nconsistent Authentication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57150"/>
              <a:ext cx="926730" cy="552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3000">
                  <a:solidFill>
                    <a:srgbClr val="000000"/>
                  </a:solidFill>
                  <a:latin typeface="Nourd Light"/>
                  <a:ea typeface="Nourd Light"/>
                  <a:cs typeface="Nourd Light"/>
                  <a:sym typeface="Nourd Light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185697" y="4830773"/>
            <a:ext cx="6236167" cy="457200"/>
            <a:chOff x="0" y="0"/>
            <a:chExt cx="8314889" cy="60960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1551893" y="28575"/>
              <a:ext cx="6762996" cy="58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No</a:t>
              </a: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 API Gateway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57150"/>
              <a:ext cx="926730" cy="552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3000">
                  <a:solidFill>
                    <a:srgbClr val="000000"/>
                  </a:solidFill>
                  <a:latin typeface="Nourd Light"/>
                  <a:ea typeface="Nourd Light"/>
                  <a:cs typeface="Nourd Light"/>
                  <a:sym typeface="Nourd Light"/>
                </a:rPr>
                <a:t>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185697" y="5678498"/>
            <a:ext cx="9559987" cy="457200"/>
            <a:chOff x="0" y="0"/>
            <a:chExt cx="12746649" cy="60960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1551893" y="28575"/>
              <a:ext cx="11194756" cy="58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Non-Secu</a:t>
              </a: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red Service-to-Service Communication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57150"/>
              <a:ext cx="926730" cy="552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3000">
                  <a:solidFill>
                    <a:srgbClr val="000000"/>
                  </a:solidFill>
                  <a:latin typeface="Nourd Light"/>
                  <a:ea typeface="Nourd Light"/>
                  <a:cs typeface="Nourd Light"/>
                  <a:sym typeface="Nourd Light"/>
                </a:rPr>
                <a:t>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185697" y="6526223"/>
            <a:ext cx="7226921" cy="457200"/>
            <a:chOff x="0" y="0"/>
            <a:chExt cx="9635895" cy="60960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1551893" y="28575"/>
              <a:ext cx="8084001" cy="58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Pub</a:t>
              </a: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licly Accessible Microservices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57150"/>
              <a:ext cx="926730" cy="552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3000">
                  <a:solidFill>
                    <a:srgbClr val="000000"/>
                  </a:solidFill>
                  <a:latin typeface="Nourd Light"/>
                  <a:ea typeface="Nourd Light"/>
                  <a:cs typeface="Nourd Light"/>
                  <a:sym typeface="Nourd Light"/>
                </a:rPr>
                <a:t>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185697" y="7373948"/>
            <a:ext cx="6236167" cy="457200"/>
            <a:chOff x="0" y="0"/>
            <a:chExt cx="8314889" cy="609600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1551893" y="28575"/>
              <a:ext cx="6762996" cy="58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Unauthe</a:t>
              </a: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nticated Traffic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57150"/>
              <a:ext cx="926730" cy="552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3000">
                  <a:solidFill>
                    <a:srgbClr val="000000"/>
                  </a:solidFill>
                  <a:latin typeface="Nourd Light"/>
                  <a:ea typeface="Nourd Light"/>
                  <a:cs typeface="Nourd Light"/>
                  <a:sym typeface="Nourd Light"/>
                </a:rPr>
                <a:t>7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185697" y="8221673"/>
            <a:ext cx="6236167" cy="457200"/>
            <a:chOff x="0" y="0"/>
            <a:chExt cx="8314889" cy="60960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1551893" y="28575"/>
              <a:ext cx="6762996" cy="58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Un</a:t>
              </a: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necessary Privileges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57150"/>
              <a:ext cx="926730" cy="552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3000">
                  <a:solidFill>
                    <a:srgbClr val="000000"/>
                  </a:solidFill>
                  <a:latin typeface="Nourd Light"/>
                  <a:ea typeface="Nourd Light"/>
                  <a:cs typeface="Nourd Light"/>
                  <a:sym typeface="Nourd Light"/>
                </a:rPr>
                <a:t>8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185697" y="9069398"/>
            <a:ext cx="6971242" cy="457200"/>
            <a:chOff x="0" y="0"/>
            <a:chExt cx="9294990" cy="609600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1551893" y="28575"/>
              <a:ext cx="7743097" cy="58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Unvalidated Serv</a:t>
              </a: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ice Registration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57150"/>
              <a:ext cx="926730" cy="552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3000">
                  <a:solidFill>
                    <a:srgbClr val="000000"/>
                  </a:solidFill>
                  <a:latin typeface="Nourd Light"/>
                  <a:ea typeface="Nourd Light"/>
                  <a:cs typeface="Nourd Light"/>
                  <a:sym typeface="Nourd Light"/>
                </a:rPr>
                <a:t>9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419778" y="685800"/>
            <a:ext cx="13763387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9 Design Level Security Antipatterns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5666900" y="8944708"/>
            <a:ext cx="1798655" cy="794406"/>
          </a:xfrm>
          <a:custGeom>
            <a:avLst/>
            <a:gdLst/>
            <a:ahLst/>
            <a:cxnLst/>
            <a:rect r="r" b="b" t="t" l="l"/>
            <a:pathLst>
              <a:path h="794406" w="1798655">
                <a:moveTo>
                  <a:pt x="0" y="0"/>
                </a:moveTo>
                <a:lnTo>
                  <a:pt x="1798655" y="0"/>
                </a:lnTo>
                <a:lnTo>
                  <a:pt x="1798655" y="794406"/>
                </a:lnTo>
                <a:lnTo>
                  <a:pt x="0" y="794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28984" y="9065625"/>
            <a:ext cx="1849784" cy="634467"/>
          </a:xfrm>
          <a:custGeom>
            <a:avLst/>
            <a:gdLst/>
            <a:ahLst/>
            <a:cxnLst/>
            <a:rect r="r" b="b" t="t" l="l"/>
            <a:pathLst>
              <a:path h="634467" w="1849784">
                <a:moveTo>
                  <a:pt x="0" y="0"/>
                </a:moveTo>
                <a:lnTo>
                  <a:pt x="1849785" y="0"/>
                </a:lnTo>
                <a:lnTo>
                  <a:pt x="1849785" y="634467"/>
                </a:lnTo>
                <a:lnTo>
                  <a:pt x="0" y="634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4597" y="3077023"/>
            <a:ext cx="8659403" cy="4890016"/>
          </a:xfrm>
          <a:custGeom>
            <a:avLst/>
            <a:gdLst/>
            <a:ahLst/>
            <a:cxnLst/>
            <a:rect r="r" b="b" t="t" l="l"/>
            <a:pathLst>
              <a:path h="4890016" w="8659403">
                <a:moveTo>
                  <a:pt x="0" y="0"/>
                </a:moveTo>
                <a:lnTo>
                  <a:pt x="8659403" y="0"/>
                </a:lnTo>
                <a:lnTo>
                  <a:pt x="8659403" y="4890016"/>
                </a:lnTo>
                <a:lnTo>
                  <a:pt x="0" y="4890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66900" y="8944708"/>
            <a:ext cx="1798655" cy="794406"/>
          </a:xfrm>
          <a:custGeom>
            <a:avLst/>
            <a:gdLst/>
            <a:ahLst/>
            <a:cxnLst/>
            <a:rect r="r" b="b" t="t" l="l"/>
            <a:pathLst>
              <a:path h="794406" w="1798655">
                <a:moveTo>
                  <a:pt x="0" y="0"/>
                </a:moveTo>
                <a:lnTo>
                  <a:pt x="1798655" y="0"/>
                </a:lnTo>
                <a:lnTo>
                  <a:pt x="1798655" y="794406"/>
                </a:lnTo>
                <a:lnTo>
                  <a:pt x="0" y="794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8984" y="9065625"/>
            <a:ext cx="1849784" cy="634467"/>
          </a:xfrm>
          <a:custGeom>
            <a:avLst/>
            <a:gdLst/>
            <a:ahLst/>
            <a:cxnLst/>
            <a:rect r="r" b="b" t="t" l="l"/>
            <a:pathLst>
              <a:path h="634467" w="1849784">
                <a:moveTo>
                  <a:pt x="0" y="0"/>
                </a:moveTo>
                <a:lnTo>
                  <a:pt x="1849785" y="0"/>
                </a:lnTo>
                <a:lnTo>
                  <a:pt x="1849785" y="634467"/>
                </a:lnTo>
                <a:lnTo>
                  <a:pt x="0" y="634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8882063" y="2299072"/>
            <a:ext cx="0" cy="5634306"/>
          </a:xfrm>
          <a:prstGeom prst="line">
            <a:avLst/>
          </a:prstGeom>
          <a:ln cap="flat" w="47625">
            <a:solidFill>
              <a:srgbClr val="5D5D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563489" y="3077023"/>
            <a:ext cx="9724511" cy="4376030"/>
          </a:xfrm>
          <a:custGeom>
            <a:avLst/>
            <a:gdLst/>
            <a:ahLst/>
            <a:cxnLst/>
            <a:rect r="r" b="b" t="t" l="l"/>
            <a:pathLst>
              <a:path h="4376030" w="9724511">
                <a:moveTo>
                  <a:pt x="0" y="0"/>
                </a:moveTo>
                <a:lnTo>
                  <a:pt x="9724511" y="0"/>
                </a:lnTo>
                <a:lnTo>
                  <a:pt x="9724511" y="4376030"/>
                </a:lnTo>
                <a:lnTo>
                  <a:pt x="0" y="43760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53877" y="676275"/>
            <a:ext cx="14460119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Antipattern Example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8725" y="2356222"/>
            <a:ext cx="3585573" cy="366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No Api Gateway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60100" y="2356222"/>
            <a:ext cx="5258160" cy="366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Insufficient Access Control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146460"/>
            <a:ext cx="7948275" cy="3010791"/>
            <a:chOff x="0" y="0"/>
            <a:chExt cx="2093373" cy="792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3373" cy="792966"/>
            </a:xfrm>
            <a:custGeom>
              <a:avLst/>
              <a:gdLst/>
              <a:ahLst/>
              <a:cxnLst/>
              <a:rect r="r" b="b" t="t" l="l"/>
              <a:pathLst>
                <a:path h="792966" w="2093373">
                  <a:moveTo>
                    <a:pt x="24351" y="0"/>
                  </a:moveTo>
                  <a:lnTo>
                    <a:pt x="2069022" y="0"/>
                  </a:lnTo>
                  <a:cubicBezTo>
                    <a:pt x="2082471" y="0"/>
                    <a:pt x="2093373" y="10902"/>
                    <a:pt x="2093373" y="24351"/>
                  </a:cubicBezTo>
                  <a:lnTo>
                    <a:pt x="2093373" y="768615"/>
                  </a:lnTo>
                  <a:cubicBezTo>
                    <a:pt x="2093373" y="775073"/>
                    <a:pt x="2090807" y="781267"/>
                    <a:pt x="2086240" y="785833"/>
                  </a:cubicBezTo>
                  <a:cubicBezTo>
                    <a:pt x="2081674" y="790400"/>
                    <a:pt x="2075480" y="792966"/>
                    <a:pt x="2069022" y="792966"/>
                  </a:cubicBezTo>
                  <a:lnTo>
                    <a:pt x="24351" y="792966"/>
                  </a:lnTo>
                  <a:cubicBezTo>
                    <a:pt x="10902" y="792966"/>
                    <a:pt x="0" y="782063"/>
                    <a:pt x="0" y="768615"/>
                  </a:cubicBezTo>
                  <a:lnTo>
                    <a:pt x="0" y="24351"/>
                  </a:lnTo>
                  <a:cubicBezTo>
                    <a:pt x="0" y="17893"/>
                    <a:pt x="2566" y="11699"/>
                    <a:pt x="7132" y="7132"/>
                  </a:cubicBezTo>
                  <a:cubicBezTo>
                    <a:pt x="11699" y="2566"/>
                    <a:pt x="17893" y="0"/>
                    <a:pt x="2435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2093373" cy="764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86550" y="2146460"/>
            <a:ext cx="7872750" cy="3010791"/>
            <a:chOff x="0" y="0"/>
            <a:chExt cx="2073481" cy="792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3481" cy="792966"/>
            </a:xfrm>
            <a:custGeom>
              <a:avLst/>
              <a:gdLst/>
              <a:ahLst/>
              <a:cxnLst/>
              <a:rect r="r" b="b" t="t" l="l"/>
              <a:pathLst>
                <a:path h="792966" w="2073481">
                  <a:moveTo>
                    <a:pt x="24585" y="0"/>
                  </a:moveTo>
                  <a:lnTo>
                    <a:pt x="2048897" y="0"/>
                  </a:lnTo>
                  <a:cubicBezTo>
                    <a:pt x="2062474" y="0"/>
                    <a:pt x="2073481" y="11007"/>
                    <a:pt x="2073481" y="24585"/>
                  </a:cubicBezTo>
                  <a:lnTo>
                    <a:pt x="2073481" y="768381"/>
                  </a:lnTo>
                  <a:cubicBezTo>
                    <a:pt x="2073481" y="774901"/>
                    <a:pt x="2070891" y="781154"/>
                    <a:pt x="2066281" y="785765"/>
                  </a:cubicBezTo>
                  <a:cubicBezTo>
                    <a:pt x="2061670" y="790375"/>
                    <a:pt x="2055417" y="792966"/>
                    <a:pt x="2048897" y="792966"/>
                  </a:cubicBezTo>
                  <a:lnTo>
                    <a:pt x="24585" y="792966"/>
                  </a:lnTo>
                  <a:cubicBezTo>
                    <a:pt x="11007" y="792966"/>
                    <a:pt x="0" y="781959"/>
                    <a:pt x="0" y="768381"/>
                  </a:cubicBezTo>
                  <a:lnTo>
                    <a:pt x="0" y="24585"/>
                  </a:lnTo>
                  <a:cubicBezTo>
                    <a:pt x="0" y="11007"/>
                    <a:pt x="11007" y="0"/>
                    <a:pt x="2458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2073481" cy="764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5552917"/>
            <a:ext cx="7948275" cy="3010791"/>
            <a:chOff x="0" y="0"/>
            <a:chExt cx="2093373" cy="7929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93373" cy="792966"/>
            </a:xfrm>
            <a:custGeom>
              <a:avLst/>
              <a:gdLst/>
              <a:ahLst/>
              <a:cxnLst/>
              <a:rect r="r" b="b" t="t" l="l"/>
              <a:pathLst>
                <a:path h="792966" w="2093373">
                  <a:moveTo>
                    <a:pt x="24351" y="0"/>
                  </a:moveTo>
                  <a:lnTo>
                    <a:pt x="2069022" y="0"/>
                  </a:lnTo>
                  <a:cubicBezTo>
                    <a:pt x="2082471" y="0"/>
                    <a:pt x="2093373" y="10902"/>
                    <a:pt x="2093373" y="24351"/>
                  </a:cubicBezTo>
                  <a:lnTo>
                    <a:pt x="2093373" y="768615"/>
                  </a:lnTo>
                  <a:cubicBezTo>
                    <a:pt x="2093373" y="775073"/>
                    <a:pt x="2090807" y="781267"/>
                    <a:pt x="2086240" y="785833"/>
                  </a:cubicBezTo>
                  <a:cubicBezTo>
                    <a:pt x="2081674" y="790400"/>
                    <a:pt x="2075480" y="792966"/>
                    <a:pt x="2069022" y="792966"/>
                  </a:cubicBezTo>
                  <a:lnTo>
                    <a:pt x="24351" y="792966"/>
                  </a:lnTo>
                  <a:cubicBezTo>
                    <a:pt x="10902" y="792966"/>
                    <a:pt x="0" y="782063"/>
                    <a:pt x="0" y="768615"/>
                  </a:cubicBezTo>
                  <a:lnTo>
                    <a:pt x="0" y="24351"/>
                  </a:lnTo>
                  <a:cubicBezTo>
                    <a:pt x="0" y="17893"/>
                    <a:pt x="2566" y="11699"/>
                    <a:pt x="7132" y="7132"/>
                  </a:cubicBezTo>
                  <a:cubicBezTo>
                    <a:pt x="11699" y="2566"/>
                    <a:pt x="17893" y="0"/>
                    <a:pt x="2435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2093373" cy="764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86550" y="5552917"/>
            <a:ext cx="7872750" cy="3010791"/>
            <a:chOff x="0" y="0"/>
            <a:chExt cx="2073481" cy="7929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3481" cy="792966"/>
            </a:xfrm>
            <a:custGeom>
              <a:avLst/>
              <a:gdLst/>
              <a:ahLst/>
              <a:cxnLst/>
              <a:rect r="r" b="b" t="t" l="l"/>
              <a:pathLst>
                <a:path h="792966" w="2073481">
                  <a:moveTo>
                    <a:pt x="24585" y="0"/>
                  </a:moveTo>
                  <a:lnTo>
                    <a:pt x="2048897" y="0"/>
                  </a:lnTo>
                  <a:cubicBezTo>
                    <a:pt x="2062474" y="0"/>
                    <a:pt x="2073481" y="11007"/>
                    <a:pt x="2073481" y="24585"/>
                  </a:cubicBezTo>
                  <a:lnTo>
                    <a:pt x="2073481" y="768381"/>
                  </a:lnTo>
                  <a:cubicBezTo>
                    <a:pt x="2073481" y="774901"/>
                    <a:pt x="2070891" y="781154"/>
                    <a:pt x="2066281" y="785765"/>
                  </a:cubicBezTo>
                  <a:cubicBezTo>
                    <a:pt x="2061670" y="790375"/>
                    <a:pt x="2055417" y="792966"/>
                    <a:pt x="2048897" y="792966"/>
                  </a:cubicBezTo>
                  <a:lnTo>
                    <a:pt x="24585" y="792966"/>
                  </a:lnTo>
                  <a:cubicBezTo>
                    <a:pt x="11007" y="792966"/>
                    <a:pt x="0" y="781959"/>
                    <a:pt x="0" y="768381"/>
                  </a:cubicBezTo>
                  <a:lnTo>
                    <a:pt x="0" y="24585"/>
                  </a:lnTo>
                  <a:cubicBezTo>
                    <a:pt x="0" y="11007"/>
                    <a:pt x="11007" y="0"/>
                    <a:pt x="2458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2073481" cy="764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711325"/>
            <a:ext cx="13752482" cy="857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399"/>
              </a:lnSpc>
              <a:spcBef>
                <a:spcPct val="0"/>
              </a:spcBef>
            </a:pPr>
            <a:r>
              <a:rPr lang="en-US" b="true" sz="6399" strike="noStrike" u="none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Research </a:t>
            </a:r>
            <a:r>
              <a:rPr lang="en-US" b="true" sz="6399" strike="noStrike" u="none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Qu</a:t>
            </a:r>
            <a:r>
              <a:rPr lang="en-US" b="true" sz="6399" strike="noStrike" u="none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e</a:t>
            </a:r>
            <a:r>
              <a:rPr lang="en-US" b="true" sz="6399" strike="noStrike" u="none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s</a:t>
            </a:r>
            <a:r>
              <a:rPr lang="en-US" b="true" sz="6399" strike="noStrike" u="none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ti</a:t>
            </a:r>
            <a:r>
              <a:rPr lang="en-US" b="true" sz="6399" strike="noStrike" u="none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on</a:t>
            </a:r>
            <a:r>
              <a:rPr lang="en-US" b="true" sz="6399" strike="noStrike" u="none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7759" y="3189365"/>
            <a:ext cx="644142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H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ow prevalent are security antipatterns in developer-written microservices?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7759" y="6492258"/>
            <a:ext cx="6441422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H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ow do different prompting strategies affect t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h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e se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cu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ri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ty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 o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f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 AI-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ge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n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erated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 micr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o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s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e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r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v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ices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7759" y="2734705"/>
            <a:ext cx="4839724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RQ1: Prevalence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7759" y="6037598"/>
            <a:ext cx="4839724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RQ3: Prompting Effects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56655" y="3189365"/>
            <a:ext cx="6628286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H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ow does the choice of coding agent affect the security antipattern profiles of AI-generated microservices?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56655" y="6492258"/>
            <a:ext cx="6628286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H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ow effectively can our proposed ADAM method detect security antipatter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ns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 i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n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 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m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icroser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v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ices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56655" y="2734705"/>
            <a:ext cx="4839724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RQ2: Model Comparison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56655" y="6037598"/>
            <a:ext cx="5493422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RQ4: Detection Effectiveness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5666900" y="8963758"/>
            <a:ext cx="1798655" cy="794406"/>
          </a:xfrm>
          <a:custGeom>
            <a:avLst/>
            <a:gdLst/>
            <a:ahLst/>
            <a:cxnLst/>
            <a:rect r="r" b="b" t="t" l="l"/>
            <a:pathLst>
              <a:path h="794406" w="1798655">
                <a:moveTo>
                  <a:pt x="0" y="0"/>
                </a:moveTo>
                <a:lnTo>
                  <a:pt x="1798655" y="0"/>
                </a:lnTo>
                <a:lnTo>
                  <a:pt x="1798655" y="794406"/>
                </a:lnTo>
                <a:lnTo>
                  <a:pt x="0" y="794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28984" y="9065625"/>
            <a:ext cx="1849784" cy="634467"/>
          </a:xfrm>
          <a:custGeom>
            <a:avLst/>
            <a:gdLst/>
            <a:ahLst/>
            <a:cxnLst/>
            <a:rect r="r" b="b" t="t" l="l"/>
            <a:pathLst>
              <a:path h="634467" w="1849784">
                <a:moveTo>
                  <a:pt x="0" y="0"/>
                </a:moveTo>
                <a:lnTo>
                  <a:pt x="1849785" y="0"/>
                </a:lnTo>
                <a:lnTo>
                  <a:pt x="1849785" y="634467"/>
                </a:lnTo>
                <a:lnTo>
                  <a:pt x="0" y="634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8099210" y="2817123"/>
            <a:ext cx="0" cy="5829855"/>
          </a:xfrm>
          <a:prstGeom prst="line">
            <a:avLst/>
          </a:prstGeom>
          <a:ln cap="flat" w="47625">
            <a:solidFill>
              <a:srgbClr val="5D5D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32497" y="5325086"/>
            <a:ext cx="5545620" cy="3448475"/>
          </a:xfrm>
          <a:custGeom>
            <a:avLst/>
            <a:gdLst/>
            <a:ahLst/>
            <a:cxnLst/>
            <a:rect r="r" b="b" t="t" l="l"/>
            <a:pathLst>
              <a:path h="3448475" w="5545620">
                <a:moveTo>
                  <a:pt x="0" y="0"/>
                </a:moveTo>
                <a:lnTo>
                  <a:pt x="5545620" y="0"/>
                </a:lnTo>
                <a:lnTo>
                  <a:pt x="5545620" y="3448475"/>
                </a:lnTo>
                <a:lnTo>
                  <a:pt x="0" y="34484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01" t="-38290" r="-2709" b="-3170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26032" y="5126096"/>
            <a:ext cx="6815422" cy="3846454"/>
          </a:xfrm>
          <a:custGeom>
            <a:avLst/>
            <a:gdLst/>
            <a:ahLst/>
            <a:cxnLst/>
            <a:rect r="r" b="b" t="t" l="l"/>
            <a:pathLst>
              <a:path h="3846454" w="6815422">
                <a:moveTo>
                  <a:pt x="0" y="0"/>
                </a:moveTo>
                <a:lnTo>
                  <a:pt x="6815422" y="0"/>
                </a:lnTo>
                <a:lnTo>
                  <a:pt x="6815422" y="3846454"/>
                </a:lnTo>
                <a:lnTo>
                  <a:pt x="0" y="38464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38225" y="2769498"/>
            <a:ext cx="6334164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9 security antipatterns, each with detection criteria and not-applicable conditions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15425" y="2759973"/>
            <a:ext cx="6931638" cy="156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75" indent="-323888" lvl="1">
              <a:lnSpc>
                <a:spcPts val="4200"/>
              </a:lnSpc>
              <a:buFont typeface="Arial"/>
              <a:buChar char="•"/>
            </a:pP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3 coding agents run through their CLIs: Claude Code, OpenAI Codex CLI, Google Antigravity CLI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9778" y="685800"/>
            <a:ext cx="13763387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Research Methodology: Overview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666900" y="8944708"/>
            <a:ext cx="1798655" cy="794406"/>
          </a:xfrm>
          <a:custGeom>
            <a:avLst/>
            <a:gdLst/>
            <a:ahLst/>
            <a:cxnLst/>
            <a:rect r="r" b="b" t="t" l="l"/>
            <a:pathLst>
              <a:path h="794406" w="1798655">
                <a:moveTo>
                  <a:pt x="0" y="0"/>
                </a:moveTo>
                <a:lnTo>
                  <a:pt x="1798655" y="0"/>
                </a:lnTo>
                <a:lnTo>
                  <a:pt x="1798655" y="794406"/>
                </a:lnTo>
                <a:lnTo>
                  <a:pt x="0" y="794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8984" y="9065625"/>
            <a:ext cx="1849784" cy="634467"/>
          </a:xfrm>
          <a:custGeom>
            <a:avLst/>
            <a:gdLst/>
            <a:ahLst/>
            <a:cxnLst/>
            <a:rect r="r" b="b" t="t" l="l"/>
            <a:pathLst>
              <a:path h="634467" w="1849784">
                <a:moveTo>
                  <a:pt x="0" y="0"/>
                </a:moveTo>
                <a:lnTo>
                  <a:pt x="1849785" y="0"/>
                </a:lnTo>
                <a:lnTo>
                  <a:pt x="1849785" y="634467"/>
                </a:lnTo>
                <a:lnTo>
                  <a:pt x="0" y="634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2500" y="2681727"/>
            <a:ext cx="16609113" cy="5562146"/>
          </a:xfrm>
          <a:custGeom>
            <a:avLst/>
            <a:gdLst/>
            <a:ahLst/>
            <a:cxnLst/>
            <a:rect r="r" b="b" t="t" l="l"/>
            <a:pathLst>
              <a:path h="5562146" w="16609113">
                <a:moveTo>
                  <a:pt x="0" y="0"/>
                </a:moveTo>
                <a:lnTo>
                  <a:pt x="16609113" y="0"/>
                </a:lnTo>
                <a:lnTo>
                  <a:pt x="16609113" y="5562146"/>
                </a:lnTo>
                <a:lnTo>
                  <a:pt x="0" y="55621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290" r="0" b="-815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7957" y="1061348"/>
            <a:ext cx="16247599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Research Methodology: Detection Pipeline​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666900" y="8944708"/>
            <a:ext cx="1798655" cy="794406"/>
          </a:xfrm>
          <a:custGeom>
            <a:avLst/>
            <a:gdLst/>
            <a:ahLst/>
            <a:cxnLst/>
            <a:rect r="r" b="b" t="t" l="l"/>
            <a:pathLst>
              <a:path h="794406" w="1798655">
                <a:moveTo>
                  <a:pt x="0" y="0"/>
                </a:moveTo>
                <a:lnTo>
                  <a:pt x="1798655" y="0"/>
                </a:lnTo>
                <a:lnTo>
                  <a:pt x="1798655" y="794406"/>
                </a:lnTo>
                <a:lnTo>
                  <a:pt x="0" y="7944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8984" y="9065625"/>
            <a:ext cx="1849784" cy="634467"/>
          </a:xfrm>
          <a:custGeom>
            <a:avLst/>
            <a:gdLst/>
            <a:ahLst/>
            <a:cxnLst/>
            <a:rect r="r" b="b" t="t" l="l"/>
            <a:pathLst>
              <a:path h="634467" w="1849784">
                <a:moveTo>
                  <a:pt x="0" y="0"/>
                </a:moveTo>
                <a:lnTo>
                  <a:pt x="1849785" y="0"/>
                </a:lnTo>
                <a:lnTo>
                  <a:pt x="1849785" y="634467"/>
                </a:lnTo>
                <a:lnTo>
                  <a:pt x="0" y="6344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006680"/>
            <a:ext cx="7948275" cy="3010791"/>
            <a:chOff x="0" y="0"/>
            <a:chExt cx="2093373" cy="792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3373" cy="792966"/>
            </a:xfrm>
            <a:custGeom>
              <a:avLst/>
              <a:gdLst/>
              <a:ahLst/>
              <a:cxnLst/>
              <a:rect r="r" b="b" t="t" l="l"/>
              <a:pathLst>
                <a:path h="792966" w="2093373">
                  <a:moveTo>
                    <a:pt x="24351" y="0"/>
                  </a:moveTo>
                  <a:lnTo>
                    <a:pt x="2069022" y="0"/>
                  </a:lnTo>
                  <a:cubicBezTo>
                    <a:pt x="2082471" y="0"/>
                    <a:pt x="2093373" y="10902"/>
                    <a:pt x="2093373" y="24351"/>
                  </a:cubicBezTo>
                  <a:lnTo>
                    <a:pt x="2093373" y="768615"/>
                  </a:lnTo>
                  <a:cubicBezTo>
                    <a:pt x="2093373" y="775073"/>
                    <a:pt x="2090807" y="781267"/>
                    <a:pt x="2086240" y="785833"/>
                  </a:cubicBezTo>
                  <a:cubicBezTo>
                    <a:pt x="2081674" y="790400"/>
                    <a:pt x="2075480" y="792966"/>
                    <a:pt x="2069022" y="792966"/>
                  </a:cubicBezTo>
                  <a:lnTo>
                    <a:pt x="24351" y="792966"/>
                  </a:lnTo>
                  <a:cubicBezTo>
                    <a:pt x="10902" y="792966"/>
                    <a:pt x="0" y="782063"/>
                    <a:pt x="0" y="768615"/>
                  </a:cubicBezTo>
                  <a:lnTo>
                    <a:pt x="0" y="24351"/>
                  </a:lnTo>
                  <a:cubicBezTo>
                    <a:pt x="0" y="17893"/>
                    <a:pt x="2566" y="11699"/>
                    <a:pt x="7132" y="7132"/>
                  </a:cubicBezTo>
                  <a:cubicBezTo>
                    <a:pt x="11699" y="2566"/>
                    <a:pt x="17893" y="0"/>
                    <a:pt x="2435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2093373" cy="764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86550" y="2006680"/>
            <a:ext cx="7872750" cy="3010791"/>
            <a:chOff x="0" y="0"/>
            <a:chExt cx="2073481" cy="792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3481" cy="792966"/>
            </a:xfrm>
            <a:custGeom>
              <a:avLst/>
              <a:gdLst/>
              <a:ahLst/>
              <a:cxnLst/>
              <a:rect r="r" b="b" t="t" l="l"/>
              <a:pathLst>
                <a:path h="792966" w="2073481">
                  <a:moveTo>
                    <a:pt x="24585" y="0"/>
                  </a:moveTo>
                  <a:lnTo>
                    <a:pt x="2048897" y="0"/>
                  </a:lnTo>
                  <a:cubicBezTo>
                    <a:pt x="2062474" y="0"/>
                    <a:pt x="2073481" y="11007"/>
                    <a:pt x="2073481" y="24585"/>
                  </a:cubicBezTo>
                  <a:lnTo>
                    <a:pt x="2073481" y="768381"/>
                  </a:lnTo>
                  <a:cubicBezTo>
                    <a:pt x="2073481" y="774901"/>
                    <a:pt x="2070891" y="781154"/>
                    <a:pt x="2066281" y="785765"/>
                  </a:cubicBezTo>
                  <a:cubicBezTo>
                    <a:pt x="2061670" y="790375"/>
                    <a:pt x="2055417" y="792966"/>
                    <a:pt x="2048897" y="792966"/>
                  </a:cubicBezTo>
                  <a:lnTo>
                    <a:pt x="24585" y="792966"/>
                  </a:lnTo>
                  <a:cubicBezTo>
                    <a:pt x="11007" y="792966"/>
                    <a:pt x="0" y="781959"/>
                    <a:pt x="0" y="768381"/>
                  </a:cubicBezTo>
                  <a:lnTo>
                    <a:pt x="0" y="24585"/>
                  </a:lnTo>
                  <a:cubicBezTo>
                    <a:pt x="0" y="11007"/>
                    <a:pt x="11007" y="0"/>
                    <a:pt x="2458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2073481" cy="764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5413137"/>
            <a:ext cx="7948275" cy="3010791"/>
            <a:chOff x="0" y="0"/>
            <a:chExt cx="2093373" cy="7929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93373" cy="792966"/>
            </a:xfrm>
            <a:custGeom>
              <a:avLst/>
              <a:gdLst/>
              <a:ahLst/>
              <a:cxnLst/>
              <a:rect r="r" b="b" t="t" l="l"/>
              <a:pathLst>
                <a:path h="792966" w="2093373">
                  <a:moveTo>
                    <a:pt x="24351" y="0"/>
                  </a:moveTo>
                  <a:lnTo>
                    <a:pt x="2069022" y="0"/>
                  </a:lnTo>
                  <a:cubicBezTo>
                    <a:pt x="2082471" y="0"/>
                    <a:pt x="2093373" y="10902"/>
                    <a:pt x="2093373" y="24351"/>
                  </a:cubicBezTo>
                  <a:lnTo>
                    <a:pt x="2093373" y="768615"/>
                  </a:lnTo>
                  <a:cubicBezTo>
                    <a:pt x="2093373" y="775073"/>
                    <a:pt x="2090807" y="781267"/>
                    <a:pt x="2086240" y="785833"/>
                  </a:cubicBezTo>
                  <a:cubicBezTo>
                    <a:pt x="2081674" y="790400"/>
                    <a:pt x="2075480" y="792966"/>
                    <a:pt x="2069022" y="792966"/>
                  </a:cubicBezTo>
                  <a:lnTo>
                    <a:pt x="24351" y="792966"/>
                  </a:lnTo>
                  <a:cubicBezTo>
                    <a:pt x="10902" y="792966"/>
                    <a:pt x="0" y="782063"/>
                    <a:pt x="0" y="768615"/>
                  </a:cubicBezTo>
                  <a:lnTo>
                    <a:pt x="0" y="24351"/>
                  </a:lnTo>
                  <a:cubicBezTo>
                    <a:pt x="0" y="17893"/>
                    <a:pt x="2566" y="11699"/>
                    <a:pt x="7132" y="7132"/>
                  </a:cubicBezTo>
                  <a:cubicBezTo>
                    <a:pt x="11699" y="2566"/>
                    <a:pt x="17893" y="0"/>
                    <a:pt x="2435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2093373" cy="764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86550" y="5413137"/>
            <a:ext cx="7872750" cy="3010791"/>
            <a:chOff x="0" y="0"/>
            <a:chExt cx="2073481" cy="7929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3481" cy="792966"/>
            </a:xfrm>
            <a:custGeom>
              <a:avLst/>
              <a:gdLst/>
              <a:ahLst/>
              <a:cxnLst/>
              <a:rect r="r" b="b" t="t" l="l"/>
              <a:pathLst>
                <a:path h="792966" w="2073481">
                  <a:moveTo>
                    <a:pt x="24585" y="0"/>
                  </a:moveTo>
                  <a:lnTo>
                    <a:pt x="2048897" y="0"/>
                  </a:lnTo>
                  <a:cubicBezTo>
                    <a:pt x="2062474" y="0"/>
                    <a:pt x="2073481" y="11007"/>
                    <a:pt x="2073481" y="24585"/>
                  </a:cubicBezTo>
                  <a:lnTo>
                    <a:pt x="2073481" y="768381"/>
                  </a:lnTo>
                  <a:cubicBezTo>
                    <a:pt x="2073481" y="774901"/>
                    <a:pt x="2070891" y="781154"/>
                    <a:pt x="2066281" y="785765"/>
                  </a:cubicBezTo>
                  <a:cubicBezTo>
                    <a:pt x="2061670" y="790375"/>
                    <a:pt x="2055417" y="792966"/>
                    <a:pt x="2048897" y="792966"/>
                  </a:cubicBezTo>
                  <a:lnTo>
                    <a:pt x="24585" y="792966"/>
                  </a:lnTo>
                  <a:cubicBezTo>
                    <a:pt x="11007" y="792966"/>
                    <a:pt x="0" y="781959"/>
                    <a:pt x="0" y="768381"/>
                  </a:cubicBezTo>
                  <a:lnTo>
                    <a:pt x="0" y="24585"/>
                  </a:lnTo>
                  <a:cubicBezTo>
                    <a:pt x="0" y="11007"/>
                    <a:pt x="11007" y="0"/>
                    <a:pt x="2458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2073481" cy="764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50932" y="685800"/>
            <a:ext cx="15852087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Dataset Creation and Ground Truth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38988" y="2959626"/>
            <a:ext cx="67277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pc="-60">
                <a:solidFill>
                  <a:srgbClr val="5D5D5D"/>
                </a:solidFill>
                <a:latin typeface="Nourd Bold"/>
                <a:ea typeface="Nourd Bold"/>
                <a:cs typeface="Nourd Bold"/>
                <a:sym typeface="Nourd Bold"/>
              </a:rPr>
              <a:t>20 open-source </a:t>
            </a: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microservice repositories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59075" y="2880251"/>
            <a:ext cx="67277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Two independent expert raters annotate each repository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38988" y="6366082"/>
            <a:ext cx="67277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A third expert adjudicates disagreements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59075" y="5977145"/>
            <a:ext cx="6727700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The result is the </a:t>
            </a:r>
            <a:r>
              <a:rPr lang="en-US" b="true" sz="3000" spc="-60">
                <a:solidFill>
                  <a:srgbClr val="5D5D5D"/>
                </a:solidFill>
                <a:latin typeface="Nourd Bold"/>
                <a:ea typeface="Nourd Bold"/>
                <a:cs typeface="Nourd Bold"/>
                <a:sym typeface="Nourd Bold"/>
              </a:rPr>
              <a:t>human-validated ground truth</a:t>
            </a: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 for benchmarking the agents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5666900" y="8944708"/>
            <a:ext cx="1798655" cy="794406"/>
          </a:xfrm>
          <a:custGeom>
            <a:avLst/>
            <a:gdLst/>
            <a:ahLst/>
            <a:cxnLst/>
            <a:rect r="r" b="b" t="t" l="l"/>
            <a:pathLst>
              <a:path h="794406" w="1798655">
                <a:moveTo>
                  <a:pt x="0" y="0"/>
                </a:moveTo>
                <a:lnTo>
                  <a:pt x="1798655" y="0"/>
                </a:lnTo>
                <a:lnTo>
                  <a:pt x="1798655" y="794406"/>
                </a:lnTo>
                <a:lnTo>
                  <a:pt x="0" y="794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28984" y="9065625"/>
            <a:ext cx="1849784" cy="634467"/>
          </a:xfrm>
          <a:custGeom>
            <a:avLst/>
            <a:gdLst/>
            <a:ahLst/>
            <a:cxnLst/>
            <a:rect r="r" b="b" t="t" l="l"/>
            <a:pathLst>
              <a:path h="634467" w="1849784">
                <a:moveTo>
                  <a:pt x="0" y="0"/>
                </a:moveTo>
                <a:lnTo>
                  <a:pt x="1849785" y="0"/>
                </a:lnTo>
                <a:lnTo>
                  <a:pt x="1849785" y="634467"/>
                </a:lnTo>
                <a:lnTo>
                  <a:pt x="0" y="634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146460"/>
            <a:ext cx="7948275" cy="3010791"/>
            <a:chOff x="0" y="0"/>
            <a:chExt cx="2093373" cy="792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3373" cy="792966"/>
            </a:xfrm>
            <a:custGeom>
              <a:avLst/>
              <a:gdLst/>
              <a:ahLst/>
              <a:cxnLst/>
              <a:rect r="r" b="b" t="t" l="l"/>
              <a:pathLst>
                <a:path h="792966" w="2093373">
                  <a:moveTo>
                    <a:pt x="24351" y="0"/>
                  </a:moveTo>
                  <a:lnTo>
                    <a:pt x="2069022" y="0"/>
                  </a:lnTo>
                  <a:cubicBezTo>
                    <a:pt x="2082471" y="0"/>
                    <a:pt x="2093373" y="10902"/>
                    <a:pt x="2093373" y="24351"/>
                  </a:cubicBezTo>
                  <a:lnTo>
                    <a:pt x="2093373" y="768615"/>
                  </a:lnTo>
                  <a:cubicBezTo>
                    <a:pt x="2093373" y="775073"/>
                    <a:pt x="2090807" y="781267"/>
                    <a:pt x="2086240" y="785833"/>
                  </a:cubicBezTo>
                  <a:cubicBezTo>
                    <a:pt x="2081674" y="790400"/>
                    <a:pt x="2075480" y="792966"/>
                    <a:pt x="2069022" y="792966"/>
                  </a:cubicBezTo>
                  <a:lnTo>
                    <a:pt x="24351" y="792966"/>
                  </a:lnTo>
                  <a:cubicBezTo>
                    <a:pt x="10902" y="792966"/>
                    <a:pt x="0" y="782063"/>
                    <a:pt x="0" y="768615"/>
                  </a:cubicBezTo>
                  <a:lnTo>
                    <a:pt x="0" y="24351"/>
                  </a:lnTo>
                  <a:cubicBezTo>
                    <a:pt x="0" y="17893"/>
                    <a:pt x="2566" y="11699"/>
                    <a:pt x="7132" y="7132"/>
                  </a:cubicBezTo>
                  <a:cubicBezTo>
                    <a:pt x="11699" y="2566"/>
                    <a:pt x="17893" y="0"/>
                    <a:pt x="2435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2093373" cy="764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86550" y="2146460"/>
            <a:ext cx="7872750" cy="3010791"/>
            <a:chOff x="0" y="0"/>
            <a:chExt cx="2073481" cy="792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3481" cy="792966"/>
            </a:xfrm>
            <a:custGeom>
              <a:avLst/>
              <a:gdLst/>
              <a:ahLst/>
              <a:cxnLst/>
              <a:rect r="r" b="b" t="t" l="l"/>
              <a:pathLst>
                <a:path h="792966" w="2073481">
                  <a:moveTo>
                    <a:pt x="24585" y="0"/>
                  </a:moveTo>
                  <a:lnTo>
                    <a:pt x="2048897" y="0"/>
                  </a:lnTo>
                  <a:cubicBezTo>
                    <a:pt x="2062474" y="0"/>
                    <a:pt x="2073481" y="11007"/>
                    <a:pt x="2073481" y="24585"/>
                  </a:cubicBezTo>
                  <a:lnTo>
                    <a:pt x="2073481" y="768381"/>
                  </a:lnTo>
                  <a:cubicBezTo>
                    <a:pt x="2073481" y="774901"/>
                    <a:pt x="2070891" y="781154"/>
                    <a:pt x="2066281" y="785765"/>
                  </a:cubicBezTo>
                  <a:cubicBezTo>
                    <a:pt x="2061670" y="790375"/>
                    <a:pt x="2055417" y="792966"/>
                    <a:pt x="2048897" y="792966"/>
                  </a:cubicBezTo>
                  <a:lnTo>
                    <a:pt x="24585" y="792966"/>
                  </a:lnTo>
                  <a:cubicBezTo>
                    <a:pt x="11007" y="792966"/>
                    <a:pt x="0" y="781959"/>
                    <a:pt x="0" y="768381"/>
                  </a:cubicBezTo>
                  <a:lnTo>
                    <a:pt x="0" y="24585"/>
                  </a:lnTo>
                  <a:cubicBezTo>
                    <a:pt x="0" y="11007"/>
                    <a:pt x="11007" y="0"/>
                    <a:pt x="2458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2073481" cy="764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666900" y="8963758"/>
            <a:ext cx="1798655" cy="794406"/>
          </a:xfrm>
          <a:custGeom>
            <a:avLst/>
            <a:gdLst/>
            <a:ahLst/>
            <a:cxnLst/>
            <a:rect r="r" b="b" t="t" l="l"/>
            <a:pathLst>
              <a:path h="794406" w="1798655">
                <a:moveTo>
                  <a:pt x="0" y="0"/>
                </a:moveTo>
                <a:lnTo>
                  <a:pt x="1798655" y="0"/>
                </a:lnTo>
                <a:lnTo>
                  <a:pt x="1798655" y="794406"/>
                </a:lnTo>
                <a:lnTo>
                  <a:pt x="0" y="794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667101" y="5669941"/>
            <a:ext cx="9438899" cy="4088223"/>
          </a:xfrm>
          <a:custGeom>
            <a:avLst/>
            <a:gdLst/>
            <a:ahLst/>
            <a:cxnLst/>
            <a:rect r="r" b="b" t="t" l="l"/>
            <a:pathLst>
              <a:path h="4088223" w="9438899">
                <a:moveTo>
                  <a:pt x="0" y="0"/>
                </a:moveTo>
                <a:lnTo>
                  <a:pt x="9438899" y="0"/>
                </a:lnTo>
                <a:lnTo>
                  <a:pt x="9438899" y="4088223"/>
                </a:lnTo>
                <a:lnTo>
                  <a:pt x="0" y="40882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711325"/>
            <a:ext cx="13752482" cy="857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39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Pr</a:t>
            </a:r>
            <a:r>
              <a:rPr lang="en-US" b="true" sz="6399" strike="noStrike" u="none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eliminary Res</a:t>
            </a:r>
            <a:r>
              <a:rPr lang="en-US" b="true" sz="6399" strike="noStrike" u="none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ul</a:t>
            </a:r>
            <a:r>
              <a:rPr lang="en-US" b="true" sz="6399" strike="noStrike" u="none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82127" y="3108931"/>
            <a:ext cx="644142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pc="-59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Ex</a:t>
            </a:r>
            <a:r>
              <a:rPr lang="en-US" sz="2999" spc="-59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periments completed on the 20 repositories with all 3 AI agents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02214" y="3108931"/>
            <a:ext cx="644142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 spc="-59">
                <a:solidFill>
                  <a:srgbClr val="5D5D5D"/>
                </a:solidFill>
                <a:latin typeface="Nourd Bold"/>
                <a:ea typeface="Nourd Bold"/>
                <a:cs typeface="Nourd Bold"/>
                <a:sym typeface="Nourd Bold"/>
              </a:rPr>
              <a:t>M</a:t>
            </a:r>
            <a:r>
              <a:rPr lang="en-US" b="true" sz="2999" spc="-59" strike="noStrike" u="none">
                <a:solidFill>
                  <a:srgbClr val="5D5D5D"/>
                </a:solidFill>
                <a:latin typeface="Nourd Bold"/>
                <a:ea typeface="Nourd Bold"/>
                <a:cs typeface="Nourd Bold"/>
                <a:sym typeface="Nourd Bold"/>
              </a:rPr>
              <a:t>etrics</a:t>
            </a:r>
            <a:r>
              <a:rPr lang="en-US" sz="2999" spc="-59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: Accuracy, precision, recall, F1-score per agent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28984" y="9065625"/>
            <a:ext cx="1849784" cy="634467"/>
          </a:xfrm>
          <a:custGeom>
            <a:avLst/>
            <a:gdLst/>
            <a:ahLst/>
            <a:cxnLst/>
            <a:rect r="r" b="b" t="t" l="l"/>
            <a:pathLst>
              <a:path h="634467" w="1849784">
                <a:moveTo>
                  <a:pt x="0" y="0"/>
                </a:moveTo>
                <a:lnTo>
                  <a:pt x="1849785" y="0"/>
                </a:lnTo>
                <a:lnTo>
                  <a:pt x="1849785" y="634467"/>
                </a:lnTo>
                <a:lnTo>
                  <a:pt x="0" y="6344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7300" y="412898"/>
            <a:ext cx="8532326" cy="857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9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Ongoing Work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666900" y="8944708"/>
            <a:ext cx="1798655" cy="794406"/>
          </a:xfrm>
          <a:custGeom>
            <a:avLst/>
            <a:gdLst/>
            <a:ahLst/>
            <a:cxnLst/>
            <a:rect r="r" b="b" t="t" l="l"/>
            <a:pathLst>
              <a:path h="794406" w="1798655">
                <a:moveTo>
                  <a:pt x="0" y="0"/>
                </a:moveTo>
                <a:lnTo>
                  <a:pt x="1798655" y="0"/>
                </a:lnTo>
                <a:lnTo>
                  <a:pt x="1798655" y="794406"/>
                </a:lnTo>
                <a:lnTo>
                  <a:pt x="0" y="794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850244" y="1668755"/>
            <a:ext cx="8696682" cy="1528763"/>
            <a:chOff x="0" y="0"/>
            <a:chExt cx="2097801" cy="3687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97801" cy="368766"/>
            </a:xfrm>
            <a:custGeom>
              <a:avLst/>
              <a:gdLst/>
              <a:ahLst/>
              <a:cxnLst/>
              <a:rect r="r" b="b" t="t" l="l"/>
              <a:pathLst>
                <a:path h="368766" w="2097801">
                  <a:moveTo>
                    <a:pt x="22255" y="0"/>
                  </a:moveTo>
                  <a:lnTo>
                    <a:pt x="2075546" y="0"/>
                  </a:lnTo>
                  <a:cubicBezTo>
                    <a:pt x="2081449" y="0"/>
                    <a:pt x="2087109" y="2345"/>
                    <a:pt x="2091283" y="6518"/>
                  </a:cubicBezTo>
                  <a:cubicBezTo>
                    <a:pt x="2095457" y="10692"/>
                    <a:pt x="2097801" y="16353"/>
                    <a:pt x="2097801" y="22255"/>
                  </a:cubicBezTo>
                  <a:lnTo>
                    <a:pt x="2097801" y="346511"/>
                  </a:lnTo>
                  <a:cubicBezTo>
                    <a:pt x="2097801" y="358802"/>
                    <a:pt x="2087837" y="368766"/>
                    <a:pt x="2075546" y="368766"/>
                  </a:cubicBezTo>
                  <a:lnTo>
                    <a:pt x="22255" y="368766"/>
                  </a:lnTo>
                  <a:cubicBezTo>
                    <a:pt x="16353" y="368766"/>
                    <a:pt x="10692" y="366421"/>
                    <a:pt x="6518" y="362247"/>
                  </a:cubicBezTo>
                  <a:cubicBezTo>
                    <a:pt x="2345" y="358074"/>
                    <a:pt x="0" y="352413"/>
                    <a:pt x="0" y="346511"/>
                  </a:cubicBezTo>
                  <a:lnTo>
                    <a:pt x="0" y="22255"/>
                  </a:lnTo>
                  <a:cubicBezTo>
                    <a:pt x="0" y="16353"/>
                    <a:pt x="2345" y="10692"/>
                    <a:pt x="6518" y="6518"/>
                  </a:cubicBezTo>
                  <a:cubicBezTo>
                    <a:pt x="10692" y="2345"/>
                    <a:pt x="16353" y="0"/>
                    <a:pt x="2225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2097801" cy="340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091593" y="2147386"/>
            <a:ext cx="821398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Generating Microservices via AI agents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850244" y="3720353"/>
            <a:ext cx="8696682" cy="1528961"/>
            <a:chOff x="0" y="0"/>
            <a:chExt cx="11595577" cy="203861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1595577" cy="2038615"/>
              <a:chOff x="0" y="0"/>
              <a:chExt cx="2097801" cy="3688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97801" cy="368814"/>
              </a:xfrm>
              <a:custGeom>
                <a:avLst/>
                <a:gdLst/>
                <a:ahLst/>
                <a:cxnLst/>
                <a:rect r="r" b="b" t="t" l="l"/>
                <a:pathLst>
                  <a:path h="368814" w="2097801">
                    <a:moveTo>
                      <a:pt x="22255" y="0"/>
                    </a:moveTo>
                    <a:lnTo>
                      <a:pt x="2075546" y="0"/>
                    </a:lnTo>
                    <a:cubicBezTo>
                      <a:pt x="2081449" y="0"/>
                      <a:pt x="2087109" y="2345"/>
                      <a:pt x="2091283" y="6518"/>
                    </a:cubicBezTo>
                    <a:cubicBezTo>
                      <a:pt x="2095457" y="10692"/>
                      <a:pt x="2097801" y="16353"/>
                      <a:pt x="2097801" y="22255"/>
                    </a:cubicBezTo>
                    <a:lnTo>
                      <a:pt x="2097801" y="346558"/>
                    </a:lnTo>
                    <a:cubicBezTo>
                      <a:pt x="2097801" y="352461"/>
                      <a:pt x="2095457" y="358122"/>
                      <a:pt x="2091283" y="362295"/>
                    </a:cubicBezTo>
                    <a:cubicBezTo>
                      <a:pt x="2087109" y="366469"/>
                      <a:pt x="2081449" y="368814"/>
                      <a:pt x="2075546" y="368814"/>
                    </a:cubicBezTo>
                    <a:lnTo>
                      <a:pt x="22255" y="368814"/>
                    </a:lnTo>
                    <a:cubicBezTo>
                      <a:pt x="16353" y="368814"/>
                      <a:pt x="10692" y="366469"/>
                      <a:pt x="6518" y="362295"/>
                    </a:cubicBezTo>
                    <a:cubicBezTo>
                      <a:pt x="2345" y="358122"/>
                      <a:pt x="0" y="352461"/>
                      <a:pt x="0" y="346558"/>
                    </a:cubicBezTo>
                    <a:lnTo>
                      <a:pt x="0" y="22255"/>
                    </a:lnTo>
                    <a:cubicBezTo>
                      <a:pt x="0" y="16353"/>
                      <a:pt x="2345" y="10692"/>
                      <a:pt x="6518" y="6518"/>
                    </a:cubicBezTo>
                    <a:cubicBezTo>
                      <a:pt x="10692" y="2345"/>
                      <a:pt x="16353" y="0"/>
                      <a:pt x="222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28575"/>
                <a:ext cx="2097801" cy="3402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21799" y="301757"/>
              <a:ext cx="10951979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 spc="-60">
                  <a:solidFill>
                    <a:srgbClr val="5D5D5D"/>
                  </a:solidFill>
                  <a:latin typeface="Nourd"/>
                  <a:ea typeface="Nourd"/>
                  <a:cs typeface="Nourd"/>
                  <a:sym typeface="Nourd"/>
                </a:rPr>
                <a:t>Running the detecting pipeline on AI generated Microservices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850244" y="5772150"/>
            <a:ext cx="8696682" cy="1528961"/>
            <a:chOff x="0" y="0"/>
            <a:chExt cx="11595577" cy="203861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1595577" cy="2038615"/>
              <a:chOff x="0" y="0"/>
              <a:chExt cx="2097801" cy="36881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097801" cy="368814"/>
              </a:xfrm>
              <a:custGeom>
                <a:avLst/>
                <a:gdLst/>
                <a:ahLst/>
                <a:cxnLst/>
                <a:rect r="r" b="b" t="t" l="l"/>
                <a:pathLst>
                  <a:path h="368814" w="2097801">
                    <a:moveTo>
                      <a:pt x="22255" y="0"/>
                    </a:moveTo>
                    <a:lnTo>
                      <a:pt x="2075546" y="0"/>
                    </a:lnTo>
                    <a:cubicBezTo>
                      <a:pt x="2081449" y="0"/>
                      <a:pt x="2087109" y="2345"/>
                      <a:pt x="2091283" y="6518"/>
                    </a:cubicBezTo>
                    <a:cubicBezTo>
                      <a:pt x="2095457" y="10692"/>
                      <a:pt x="2097801" y="16353"/>
                      <a:pt x="2097801" y="22255"/>
                    </a:cubicBezTo>
                    <a:lnTo>
                      <a:pt x="2097801" y="346558"/>
                    </a:lnTo>
                    <a:cubicBezTo>
                      <a:pt x="2097801" y="352461"/>
                      <a:pt x="2095457" y="358122"/>
                      <a:pt x="2091283" y="362295"/>
                    </a:cubicBezTo>
                    <a:cubicBezTo>
                      <a:pt x="2087109" y="366469"/>
                      <a:pt x="2081449" y="368814"/>
                      <a:pt x="2075546" y="368814"/>
                    </a:cubicBezTo>
                    <a:lnTo>
                      <a:pt x="22255" y="368814"/>
                    </a:lnTo>
                    <a:cubicBezTo>
                      <a:pt x="16353" y="368814"/>
                      <a:pt x="10692" y="366469"/>
                      <a:pt x="6518" y="362295"/>
                    </a:cubicBezTo>
                    <a:cubicBezTo>
                      <a:pt x="2345" y="358122"/>
                      <a:pt x="0" y="352461"/>
                      <a:pt x="0" y="346558"/>
                    </a:cubicBezTo>
                    <a:lnTo>
                      <a:pt x="0" y="22255"/>
                    </a:lnTo>
                    <a:cubicBezTo>
                      <a:pt x="0" y="16353"/>
                      <a:pt x="2345" y="10692"/>
                      <a:pt x="6518" y="6518"/>
                    </a:cubicBezTo>
                    <a:cubicBezTo>
                      <a:pt x="10692" y="2345"/>
                      <a:pt x="16353" y="0"/>
                      <a:pt x="222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28575"/>
                <a:ext cx="2097801" cy="3402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21799" y="301757"/>
              <a:ext cx="10951979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 spc="-60">
                  <a:solidFill>
                    <a:srgbClr val="5D5D5D"/>
                  </a:solidFill>
                  <a:latin typeface="Nourd"/>
                  <a:ea typeface="Nourd"/>
                  <a:cs typeface="Nourd"/>
                  <a:sym typeface="Nourd"/>
                </a:rPr>
                <a:t>Comparing different Prompting Strategies on the microservice generation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850244" y="7929761"/>
            <a:ext cx="8696682" cy="1528961"/>
            <a:chOff x="0" y="0"/>
            <a:chExt cx="11595577" cy="2038615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1595577" cy="2038615"/>
              <a:chOff x="0" y="0"/>
              <a:chExt cx="2097801" cy="36881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097801" cy="368814"/>
              </a:xfrm>
              <a:custGeom>
                <a:avLst/>
                <a:gdLst/>
                <a:ahLst/>
                <a:cxnLst/>
                <a:rect r="r" b="b" t="t" l="l"/>
                <a:pathLst>
                  <a:path h="368814" w="2097801">
                    <a:moveTo>
                      <a:pt x="22255" y="0"/>
                    </a:moveTo>
                    <a:lnTo>
                      <a:pt x="2075546" y="0"/>
                    </a:lnTo>
                    <a:cubicBezTo>
                      <a:pt x="2081449" y="0"/>
                      <a:pt x="2087109" y="2345"/>
                      <a:pt x="2091283" y="6518"/>
                    </a:cubicBezTo>
                    <a:cubicBezTo>
                      <a:pt x="2095457" y="10692"/>
                      <a:pt x="2097801" y="16353"/>
                      <a:pt x="2097801" y="22255"/>
                    </a:cubicBezTo>
                    <a:lnTo>
                      <a:pt x="2097801" y="346558"/>
                    </a:lnTo>
                    <a:cubicBezTo>
                      <a:pt x="2097801" y="352461"/>
                      <a:pt x="2095457" y="358122"/>
                      <a:pt x="2091283" y="362295"/>
                    </a:cubicBezTo>
                    <a:cubicBezTo>
                      <a:pt x="2087109" y="366469"/>
                      <a:pt x="2081449" y="368814"/>
                      <a:pt x="2075546" y="368814"/>
                    </a:cubicBezTo>
                    <a:lnTo>
                      <a:pt x="22255" y="368814"/>
                    </a:lnTo>
                    <a:cubicBezTo>
                      <a:pt x="16353" y="368814"/>
                      <a:pt x="10692" y="366469"/>
                      <a:pt x="6518" y="362295"/>
                    </a:cubicBezTo>
                    <a:cubicBezTo>
                      <a:pt x="2345" y="358122"/>
                      <a:pt x="0" y="352461"/>
                      <a:pt x="0" y="346558"/>
                    </a:cubicBezTo>
                    <a:lnTo>
                      <a:pt x="0" y="22255"/>
                    </a:lnTo>
                    <a:cubicBezTo>
                      <a:pt x="0" y="16353"/>
                      <a:pt x="2345" y="10692"/>
                      <a:pt x="6518" y="6518"/>
                    </a:cubicBezTo>
                    <a:cubicBezTo>
                      <a:pt x="10692" y="2345"/>
                      <a:pt x="16353" y="0"/>
                      <a:pt x="222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28575"/>
                <a:ext cx="2097801" cy="3402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21799" y="301757"/>
              <a:ext cx="10951979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 spc="-60">
                  <a:solidFill>
                    <a:srgbClr val="5D5D5D"/>
                  </a:solidFill>
                  <a:latin typeface="Nourd"/>
                  <a:ea typeface="Nourd"/>
                  <a:cs typeface="Nourd"/>
                  <a:sym typeface="Nourd"/>
                </a:rPr>
                <a:t>Analysing Detection capabilites on individual microservices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628984" y="9065625"/>
            <a:ext cx="1849784" cy="634467"/>
          </a:xfrm>
          <a:custGeom>
            <a:avLst/>
            <a:gdLst/>
            <a:ahLst/>
            <a:cxnLst/>
            <a:rect r="r" b="b" t="t" l="l"/>
            <a:pathLst>
              <a:path h="634467" w="1849784">
                <a:moveTo>
                  <a:pt x="0" y="0"/>
                </a:moveTo>
                <a:lnTo>
                  <a:pt x="1849785" y="0"/>
                </a:lnTo>
                <a:lnTo>
                  <a:pt x="1849785" y="634467"/>
                </a:lnTo>
                <a:lnTo>
                  <a:pt x="0" y="634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13514" y="4234888"/>
            <a:ext cx="8260971" cy="1851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0"/>
              </a:lnSpc>
            </a:pPr>
            <a:r>
              <a:rPr lang="en-US" sz="14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977229" y="6712342"/>
            <a:ext cx="10410546" cy="429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99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Do you have any question? Feel free to ask.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666900" y="8944708"/>
            <a:ext cx="1798655" cy="794406"/>
          </a:xfrm>
          <a:custGeom>
            <a:avLst/>
            <a:gdLst/>
            <a:ahLst/>
            <a:cxnLst/>
            <a:rect r="r" b="b" t="t" l="l"/>
            <a:pathLst>
              <a:path h="794406" w="1798655">
                <a:moveTo>
                  <a:pt x="0" y="0"/>
                </a:moveTo>
                <a:lnTo>
                  <a:pt x="1798655" y="0"/>
                </a:lnTo>
                <a:lnTo>
                  <a:pt x="1798655" y="794406"/>
                </a:lnTo>
                <a:lnTo>
                  <a:pt x="0" y="794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8984" y="9065625"/>
            <a:ext cx="1849784" cy="634467"/>
          </a:xfrm>
          <a:custGeom>
            <a:avLst/>
            <a:gdLst/>
            <a:ahLst/>
            <a:cxnLst/>
            <a:rect r="r" b="b" t="t" l="l"/>
            <a:pathLst>
              <a:path h="634467" w="1849784">
                <a:moveTo>
                  <a:pt x="0" y="0"/>
                </a:moveTo>
                <a:lnTo>
                  <a:pt x="1849785" y="0"/>
                </a:lnTo>
                <a:lnTo>
                  <a:pt x="1849785" y="634467"/>
                </a:lnTo>
                <a:lnTo>
                  <a:pt x="0" y="634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DAHYBA4e0Ys</dc:identifier>
  <dcterms:modified xsi:type="dcterms:W3CDTF">2011-08-01T06:04:30Z</dcterms:modified>
  <cp:revision>1</cp:revision>
  <dc:title>ADAM-MSCS-2026</dc:title>
</cp:coreProperties>
</file>